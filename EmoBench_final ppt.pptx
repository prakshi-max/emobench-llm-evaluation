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2" r:id="rId7"/>
    <p:sldId id="261" r:id="rId8"/>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14315E"/>
                </a:solidFill>
                <a:latin typeface="Calibri"/>
              </a:defRPr>
            </a:pPr>
            <a:r>
              <a:rPr lang="en-US" sz="1050" b="0" i="0" u="none" strike="noStrike">
                <a:solidFill>
                  <a:srgbClr val="14315E"/>
                </a:solidFill>
                <a:latin typeface="Calibri"/>
              </a:rPr>
              <a:t>Category-wise Accuracy — Our Run (EU, English)</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2F6FB7"/>
            </a:solidFill>
            <a:effectLst/>
          </c:spPr>
          <c:invertIfNegative val="0"/>
          <c:dLbls>
            <c:numFmt formatCode="#,##0" sourceLinked="0"/>
            <c:spPr>
              <a:noFill/>
              <a:ln>
                <a:noFill/>
              </a:ln>
              <a:effectLst/>
            </c:spPr>
            <c:txPr>
              <a:bodyPr/>
              <a:lstStyle/>
              <a:p>
                <a:pPr>
                  <a:defRPr sz="900" b="0" i="0" u="none" strike="noStrike">
                    <a:solidFill>
                      <a:srgbClr val="14315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Complex
Emotions</c:v>
                </c:pt>
                <c:pt idx="1">
                  <c:v>Emotional
Cues</c:v>
                </c:pt>
                <c:pt idx="2">
                  <c:v>Personal Beliefs
&amp; Experiences</c:v>
                </c:pt>
                <c:pt idx="3">
                  <c:v>Perspective
Taking</c:v>
                </c:pt>
              </c:strCache>
            </c:strRef>
          </c:cat>
          <c:val>
            <c:numRef>
              <c:f>Sheet1!$B$2:$B$5</c:f>
              <c:numCache>
                <c:formatCode>General</c:formatCode>
                <c:ptCount val="4"/>
                <c:pt idx="0">
                  <c:v>6.12</c:v>
                </c:pt>
                <c:pt idx="1">
                  <c:v>14.29</c:v>
                </c:pt>
                <c:pt idx="2">
                  <c:v>8.93</c:v>
                </c:pt>
                <c:pt idx="3">
                  <c:v>7.46</c:v>
                </c:pt>
              </c:numCache>
            </c:numRef>
          </c:val>
          <c:extLst>
            <c:ext xmlns:c16="http://schemas.microsoft.com/office/drawing/2014/chart" uri="{C3380CC4-5D6E-409C-BE32-E72D297353CC}">
              <c16:uniqueId val="{00000000-8164-4352-8A43-EE8DE34042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max val="20"/>
        </c:scaling>
        <c:delete val="0"/>
        <c:axPos val="l"/>
        <c:majorGridlines>
          <c:spPr>
            <a:ln w="9525" cap="flat">
              <a:solidFill>
                <a:srgbClr val="C7D4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302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work is EmoBench, ACL 2024, which I am presenting as part of my internship under Prof. Brejesh Lall. Emotional intelligence matters for LLMs because it affects trust, engagement, and usefulness in applications like mental-health support. Existing benchmarks only tested pattern-based emotion recognition and inherited errors from repurposed datasets, which motivated the authors to design a harder, theory-grounded benchmark — EmoBench.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EmoBench defines two complementary tasks: Emotional Understanding, which requires identifying emotions and their causes, and Emotional Application, which requires choosing the most effective response to an emotional dilemma. The benchmark has 400 hand-crafted MCQs across 121 scenarios in English and Chinese, grounded in psychological theory. Every question flows through the same pipeline: dataset scenario, prompt construction, LLM inference, prediction parsing, and accuracy scoring.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Emotional Understanding taxonomy, shown in Figures 3 and 4 of the paper, organizes questions into four main categories — Complex Emotions, Personal Beliefs and Experiences, Emotional Cues, and Perspective Taking — each with sub-categories such as faux pas or false belief. In total, 121 hand-crafted scenarios generate 200 EU MCQs, complemented by 200 EA MCQs, for 400 questions overall, all designed to require inference over implied information.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reproduction, we built a lightweight pipeline: main.py orchestrates the run, data.py loads EU.jsonl and formats MCQ prompts, and model.py wraps the Hugging Face Qwen2.5-0.5B-Instruct model for inference. We chose this model because it is open-source, Hugging Face compatible, lightweight, and runs entirely on CPU, making it easy to reproduce without GPU access. The single command shown here runs the full Emotional Understanding evaluation and produces leaderboard.json.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paper's reported accuracy for reference — GPT-4 leads at roughly 60% on EU and 76% on EA, with humans still ahead of every model. On the right are our own results: running Qwen2.5-0.5B-Instruct on the 200-sample English EU subset on CPU gave an overall accuracy of 8.50%, with Perspective Taking and Complex Emotions the weakest categories. This is expected given the model's very small 0.5B parameter count relative to the paper's baselines, and is consistent with the paper's finding that performance scales with model size.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backup slide is for reference during Q&amp;A. It shows the exact repository layout, the single command used to reproduce our run, the model configuration, and the CPU-only environment — Python 3.10 with Hugging Face Transformers and PyTorch — so the full evaluation can be reproduced by anyone without GPU access.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paper's core contribution is the first comprehensive, psychology-grounded EI benchmark with a human-versus-LLM comparison. My contribution was implementing and running the EmoBench repository myself, integrating a Hugging Face model, and generating my own leaderboard and accuracy metrics. Limitations include the text-only, bilingual scope of the paper and the small model and subset used in my own run. Future work includes multi-modal EI, larger multilingual data, and GPU-based evaluation of bigger open-source models.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15E"/>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754880" cy="4754880"/>
          </a:xfrm>
          <a:prstGeom prst="ellipse">
            <a:avLst/>
          </a:prstGeom>
          <a:solidFill>
            <a:srgbClr val="1E4079"/>
          </a:solidFill>
          <a:ln/>
        </p:spPr>
        <p:txBody>
          <a:bodyPr/>
          <a:lstStyle/>
          <a:p>
            <a:endParaRPr lang="en-IN"/>
          </a:p>
        </p:txBody>
      </p:sp>
      <p:sp>
        <p:nvSpPr>
          <p:cNvPr id="3" name="Shape 1"/>
          <p:cNvSpPr/>
          <p:nvPr/>
        </p:nvSpPr>
        <p:spPr>
          <a:xfrm>
            <a:off x="11155680" y="4572000"/>
            <a:ext cx="2926080" cy="2926080"/>
          </a:xfrm>
          <a:prstGeom prst="ellipse">
            <a:avLst/>
          </a:prstGeom>
          <a:solidFill>
            <a:srgbClr val="1E4079"/>
          </a:solidFill>
          <a:ln/>
        </p:spPr>
        <p:txBody>
          <a:bodyPr/>
          <a:lstStyle/>
          <a:p>
            <a:endParaRPr lang="en-IN"/>
          </a:p>
        </p:txBody>
      </p:sp>
      <p:sp>
        <p:nvSpPr>
          <p:cNvPr id="4" name="Text 2"/>
          <p:cNvSpPr/>
          <p:nvPr/>
        </p:nvSpPr>
        <p:spPr>
          <a:xfrm>
            <a:off x="502920" y="256032"/>
            <a:ext cx="9601200" cy="274320"/>
          </a:xfrm>
          <a:prstGeom prst="rect">
            <a:avLst/>
          </a:prstGeom>
          <a:noFill/>
          <a:ln/>
        </p:spPr>
        <p:txBody>
          <a:bodyPr wrap="square" lIns="0" tIns="0" rIns="0" bIns="0" rtlCol="0" anchor="ctr"/>
          <a:lstStyle/>
          <a:p>
            <a:pPr marL="0" indent="0">
              <a:buNone/>
            </a:pPr>
            <a:endParaRPr lang="en-US" sz="1150" dirty="0"/>
          </a:p>
        </p:txBody>
      </p:sp>
      <p:sp>
        <p:nvSpPr>
          <p:cNvPr id="6" name="Text 4"/>
          <p:cNvSpPr/>
          <p:nvPr/>
        </p:nvSpPr>
        <p:spPr>
          <a:xfrm>
            <a:off x="502920" y="548640"/>
            <a:ext cx="9464040" cy="749808"/>
          </a:xfrm>
          <a:prstGeom prst="rect">
            <a:avLst/>
          </a:prstGeom>
          <a:noFill/>
          <a:ln/>
        </p:spPr>
        <p:txBody>
          <a:bodyPr wrap="square" lIns="0" tIns="0" rIns="0" bIns="0" rtlCol="0" anchor="ctr"/>
          <a:lstStyle/>
          <a:p>
            <a:pPr marL="0" indent="0">
              <a:buNone/>
            </a:pPr>
            <a:r>
              <a:rPr lang="en-US" sz="2000" b="1" i="1" dirty="0">
                <a:solidFill>
                  <a:srgbClr val="EAF1FB"/>
                </a:solidFill>
                <a:latin typeface="Calibri" pitchFamily="34" charset="0"/>
                <a:ea typeface="Calibri" pitchFamily="34" charset="-122"/>
                <a:cs typeface="Calibri" pitchFamily="34" charset="-120"/>
              </a:rPr>
              <a:t>Evaluating the Emotional Intelligence of Large Language Models</a:t>
            </a:r>
            <a:endParaRPr lang="en-US" sz="2000" b="1" dirty="0"/>
          </a:p>
        </p:txBody>
      </p:sp>
      <p:sp>
        <p:nvSpPr>
          <p:cNvPr id="7" name="Text 5"/>
          <p:cNvSpPr/>
          <p:nvPr/>
        </p:nvSpPr>
        <p:spPr>
          <a:xfrm>
            <a:off x="457200" y="1335024"/>
            <a:ext cx="11155680" cy="411480"/>
          </a:xfrm>
          <a:prstGeom prst="rect">
            <a:avLst/>
          </a:prstGeom>
          <a:noFill/>
          <a:ln/>
        </p:spPr>
        <p:txBody>
          <a:bodyPr wrap="square" lIns="0" tIns="0" rIns="0" bIns="0" rtlCol="0" anchor="ctr"/>
          <a:lstStyle/>
          <a:p>
            <a:pPr marL="0" indent="0">
              <a:lnSpc>
                <a:spcPct val="105000"/>
              </a:lnSpc>
              <a:buNone/>
            </a:pPr>
            <a:r>
              <a:rPr lang="en-US" sz="1050" dirty="0">
                <a:solidFill>
                  <a:srgbClr val="C7D9F2"/>
                </a:solidFill>
                <a:latin typeface="Calibri" pitchFamily="34" charset="0"/>
                <a:ea typeface="Calibri" pitchFamily="34" charset="-122"/>
                <a:cs typeface="Calibri" pitchFamily="34" charset="-120"/>
              </a:rPr>
              <a:t>Sahand Sabour, Siyang Liu, Zheyuan Zhang, June M. Liu, Jinfeng Zhou, Alvionna S. Sunaryo, Tatia M.C. Lee, Rada Mihalcea, Minlie Huang  ·  Tsinghua Univ. / Univ. of Michigan / HKU</a:t>
            </a:r>
            <a:endParaRPr lang="en-US" sz="1050" dirty="0"/>
          </a:p>
        </p:txBody>
      </p:sp>
      <p:sp>
        <p:nvSpPr>
          <p:cNvPr id="8" name="Shape 6"/>
          <p:cNvSpPr/>
          <p:nvPr/>
        </p:nvSpPr>
        <p:spPr>
          <a:xfrm>
            <a:off x="502920" y="2148840"/>
            <a:ext cx="1828800" cy="310896"/>
          </a:xfrm>
          <a:prstGeom prst="roundRect">
            <a:avLst>
              <a:gd name="adj" fmla="val 17647"/>
            </a:avLst>
          </a:prstGeom>
          <a:solidFill>
            <a:srgbClr val="2F6FB7"/>
          </a:solidFill>
          <a:ln/>
        </p:spPr>
        <p:txBody>
          <a:bodyPr/>
          <a:lstStyle/>
          <a:p>
            <a:endParaRPr lang="en-IN"/>
          </a:p>
        </p:txBody>
      </p:sp>
      <p:sp>
        <p:nvSpPr>
          <p:cNvPr id="9" name="Text 7"/>
          <p:cNvSpPr/>
          <p:nvPr/>
        </p:nvSpPr>
        <p:spPr>
          <a:xfrm>
            <a:off x="502920" y="2148840"/>
            <a:ext cx="182880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RESEARCH PAPER</a:t>
            </a:r>
            <a:endParaRPr lang="en-US" sz="1050" dirty="0"/>
          </a:p>
        </p:txBody>
      </p:sp>
      <p:sp>
        <p:nvSpPr>
          <p:cNvPr id="10" name="Shape 8"/>
          <p:cNvSpPr/>
          <p:nvPr/>
        </p:nvSpPr>
        <p:spPr>
          <a:xfrm>
            <a:off x="502920" y="2578608"/>
            <a:ext cx="5532120" cy="3364992"/>
          </a:xfrm>
          <a:prstGeom prst="roundRect">
            <a:avLst>
              <a:gd name="adj" fmla="val 2174"/>
            </a:avLst>
          </a:prstGeom>
          <a:solidFill>
            <a:srgbClr val="17376A"/>
          </a:solidFill>
          <a:ln w="12700">
            <a:solidFill>
              <a:srgbClr val="2A4E86"/>
            </a:solidFill>
            <a:prstDash val="solid"/>
          </a:ln>
        </p:spPr>
        <p:txBody>
          <a:bodyPr/>
          <a:lstStyle/>
          <a:p>
            <a:endParaRPr lang="en-IN"/>
          </a:p>
        </p:txBody>
      </p:sp>
      <p:sp>
        <p:nvSpPr>
          <p:cNvPr id="11" name="Shape 9"/>
          <p:cNvSpPr/>
          <p:nvPr/>
        </p:nvSpPr>
        <p:spPr>
          <a:xfrm>
            <a:off x="813816" y="2752344"/>
            <a:ext cx="420624" cy="420624"/>
          </a:xfrm>
          <a:prstGeom prst="ellipse">
            <a:avLst/>
          </a:prstGeom>
          <a:solidFill>
            <a:srgbClr val="2F6FB7"/>
          </a:solidFill>
          <a:ln/>
        </p:spPr>
        <p:txBody>
          <a:bodyPr/>
          <a:lstStyle/>
          <a:p>
            <a:endParaRPr lang="en-IN"/>
          </a:p>
        </p:txBody>
      </p:sp>
      <p:sp>
        <p:nvSpPr>
          <p:cNvPr id="12" name="Text 10"/>
          <p:cNvSpPr/>
          <p:nvPr/>
        </p:nvSpPr>
        <p:spPr>
          <a:xfrm>
            <a:off x="813816" y="275234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371600" y="2743200"/>
            <a:ext cx="4480560" cy="4572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Motivation: Why EI Evaluation Matters</a:t>
            </a:r>
            <a:endParaRPr lang="en-US" sz="1400" dirty="0"/>
          </a:p>
        </p:txBody>
      </p:sp>
      <p:sp>
        <p:nvSpPr>
          <p:cNvPr id="14" name="Shape 12"/>
          <p:cNvSpPr/>
          <p:nvPr/>
        </p:nvSpPr>
        <p:spPr>
          <a:xfrm>
            <a:off x="841248" y="3419856"/>
            <a:ext cx="73152" cy="73152"/>
          </a:xfrm>
          <a:prstGeom prst="ellipse">
            <a:avLst/>
          </a:prstGeom>
          <a:solidFill>
            <a:srgbClr val="C9821B"/>
          </a:solidFill>
          <a:ln/>
        </p:spPr>
        <p:txBody>
          <a:bodyPr/>
          <a:lstStyle/>
          <a:p>
            <a:endParaRPr lang="en-IN"/>
          </a:p>
        </p:txBody>
      </p:sp>
      <p:sp>
        <p:nvSpPr>
          <p:cNvPr id="15" name="Text 13"/>
          <p:cNvSpPr/>
          <p:nvPr/>
        </p:nvSpPr>
        <p:spPr>
          <a:xfrm>
            <a:off x="1005840" y="3300984"/>
            <a:ext cx="4892040" cy="822960"/>
          </a:xfrm>
          <a:prstGeom prst="rect">
            <a:avLst/>
          </a:prstGeom>
          <a:noFill/>
          <a:ln/>
        </p:spPr>
        <p:txBody>
          <a:bodyPr wrap="square" lIns="0" tIns="0" rIns="0" bIns="0" rtlCol="0" anchor="ctr"/>
          <a:lstStyle/>
          <a:p>
            <a:pPr marL="0" indent="0">
              <a:lnSpc>
                <a:spcPct val="105000"/>
              </a:lnSpc>
              <a:buNone/>
            </a:pPr>
            <a:r>
              <a:rPr lang="en-US" sz="1150" dirty="0">
                <a:solidFill>
                  <a:srgbClr val="E4EDFA"/>
                </a:solidFill>
                <a:latin typeface="Calibri" pitchFamily="34" charset="0"/>
                <a:ea typeface="Calibri" pitchFamily="34" charset="-122"/>
                <a:cs typeface="Calibri" pitchFamily="34" charset="-120"/>
              </a:rPr>
              <a:t>EI enables recognizing, understanding, and managing thoughts and feelings — shaping relationships, decisions, and well-being.</a:t>
            </a:r>
            <a:endParaRPr lang="en-US" sz="1150" dirty="0"/>
          </a:p>
        </p:txBody>
      </p:sp>
      <p:sp>
        <p:nvSpPr>
          <p:cNvPr id="16" name="Shape 14"/>
          <p:cNvSpPr/>
          <p:nvPr/>
        </p:nvSpPr>
        <p:spPr>
          <a:xfrm>
            <a:off x="841248" y="4261104"/>
            <a:ext cx="73152" cy="73152"/>
          </a:xfrm>
          <a:prstGeom prst="ellipse">
            <a:avLst/>
          </a:prstGeom>
          <a:solidFill>
            <a:srgbClr val="C9821B"/>
          </a:solidFill>
          <a:ln/>
        </p:spPr>
        <p:txBody>
          <a:bodyPr/>
          <a:lstStyle/>
          <a:p>
            <a:endParaRPr lang="en-IN"/>
          </a:p>
        </p:txBody>
      </p:sp>
      <p:sp>
        <p:nvSpPr>
          <p:cNvPr id="17" name="Text 15"/>
          <p:cNvSpPr/>
          <p:nvPr/>
        </p:nvSpPr>
        <p:spPr>
          <a:xfrm>
            <a:off x="1005840" y="4142232"/>
            <a:ext cx="4892040" cy="822960"/>
          </a:xfrm>
          <a:prstGeom prst="rect">
            <a:avLst/>
          </a:prstGeom>
          <a:noFill/>
          <a:ln/>
        </p:spPr>
        <p:txBody>
          <a:bodyPr wrap="square" lIns="0" tIns="0" rIns="0" bIns="0" rtlCol="0" anchor="ctr"/>
          <a:lstStyle/>
          <a:p>
            <a:pPr marL="0" indent="0">
              <a:lnSpc>
                <a:spcPct val="105000"/>
              </a:lnSpc>
              <a:buNone/>
            </a:pPr>
            <a:r>
              <a:rPr lang="en-US" sz="1150" dirty="0">
                <a:solidFill>
                  <a:srgbClr val="E4EDFA"/>
                </a:solidFill>
                <a:latin typeface="Calibri" pitchFamily="34" charset="0"/>
                <a:ea typeface="Calibri" pitchFamily="34" charset="-122"/>
                <a:cs typeface="Calibri" pitchFamily="34" charset="-120"/>
              </a:rPr>
              <a:t>Emotionally intelligent systems are perceived as more trustworthy and engaging.</a:t>
            </a:r>
            <a:endParaRPr lang="en-US" sz="1150" dirty="0"/>
          </a:p>
        </p:txBody>
      </p:sp>
      <p:sp>
        <p:nvSpPr>
          <p:cNvPr id="18" name="Shape 16"/>
          <p:cNvSpPr/>
          <p:nvPr/>
        </p:nvSpPr>
        <p:spPr>
          <a:xfrm>
            <a:off x="841248" y="5102352"/>
            <a:ext cx="73152" cy="73152"/>
          </a:xfrm>
          <a:prstGeom prst="ellipse">
            <a:avLst/>
          </a:prstGeom>
          <a:solidFill>
            <a:srgbClr val="C9821B"/>
          </a:solidFill>
          <a:ln/>
        </p:spPr>
        <p:txBody>
          <a:bodyPr/>
          <a:lstStyle/>
          <a:p>
            <a:endParaRPr lang="en-IN"/>
          </a:p>
        </p:txBody>
      </p:sp>
      <p:sp>
        <p:nvSpPr>
          <p:cNvPr id="19" name="Text 17"/>
          <p:cNvSpPr/>
          <p:nvPr/>
        </p:nvSpPr>
        <p:spPr>
          <a:xfrm>
            <a:off x="1005840" y="4983480"/>
            <a:ext cx="4892040" cy="822960"/>
          </a:xfrm>
          <a:prstGeom prst="rect">
            <a:avLst/>
          </a:prstGeom>
          <a:noFill/>
          <a:ln/>
        </p:spPr>
        <p:txBody>
          <a:bodyPr wrap="square" lIns="0" tIns="0" rIns="0" bIns="0" rtlCol="0" anchor="ctr"/>
          <a:lstStyle/>
          <a:p>
            <a:pPr marL="0" indent="0">
              <a:lnSpc>
                <a:spcPct val="105000"/>
              </a:lnSpc>
              <a:buNone/>
            </a:pPr>
            <a:r>
              <a:rPr lang="en-US" sz="1150" dirty="0">
                <a:solidFill>
                  <a:srgbClr val="E4EDFA"/>
                </a:solidFill>
                <a:latin typeface="Calibri" pitchFamily="34" charset="0"/>
                <a:ea typeface="Calibri" pitchFamily="34" charset="-122"/>
                <a:cs typeface="Calibri" pitchFamily="34" charset="-120"/>
              </a:rPr>
              <a:t>Critical for education, customer service, and mental-health support applications.</a:t>
            </a:r>
            <a:endParaRPr lang="en-US" sz="1150" dirty="0"/>
          </a:p>
        </p:txBody>
      </p:sp>
      <p:sp>
        <p:nvSpPr>
          <p:cNvPr id="20" name="Shape 18"/>
          <p:cNvSpPr/>
          <p:nvPr/>
        </p:nvSpPr>
        <p:spPr>
          <a:xfrm>
            <a:off x="6199632" y="2578608"/>
            <a:ext cx="5468112" cy="3364992"/>
          </a:xfrm>
          <a:prstGeom prst="roundRect">
            <a:avLst>
              <a:gd name="adj" fmla="val 2174"/>
            </a:avLst>
          </a:prstGeom>
          <a:solidFill>
            <a:srgbClr val="17376A"/>
          </a:solidFill>
          <a:ln w="12700">
            <a:solidFill>
              <a:srgbClr val="2A4E86"/>
            </a:solidFill>
            <a:prstDash val="solid"/>
          </a:ln>
        </p:spPr>
        <p:txBody>
          <a:bodyPr/>
          <a:lstStyle/>
          <a:p>
            <a:endParaRPr lang="en-IN"/>
          </a:p>
        </p:txBody>
      </p:sp>
      <p:sp>
        <p:nvSpPr>
          <p:cNvPr id="21" name="Shape 19"/>
          <p:cNvSpPr/>
          <p:nvPr/>
        </p:nvSpPr>
        <p:spPr>
          <a:xfrm>
            <a:off x="6510528" y="2752344"/>
            <a:ext cx="420624" cy="420624"/>
          </a:xfrm>
          <a:prstGeom prst="ellipse">
            <a:avLst/>
          </a:prstGeom>
          <a:solidFill>
            <a:srgbClr val="C9821B"/>
          </a:solidFill>
          <a:ln/>
        </p:spPr>
        <p:txBody>
          <a:bodyPr/>
          <a:lstStyle/>
          <a:p>
            <a:endParaRPr lang="en-IN"/>
          </a:p>
        </p:txBody>
      </p:sp>
      <p:sp>
        <p:nvSpPr>
          <p:cNvPr id="22" name="Text 20"/>
          <p:cNvSpPr/>
          <p:nvPr/>
        </p:nvSpPr>
        <p:spPr>
          <a:xfrm>
            <a:off x="6510528" y="2752344"/>
            <a:ext cx="420624" cy="420624"/>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7059168" y="2688336"/>
            <a:ext cx="4480560" cy="56692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Problems with Prior Benchmarks &amp; Why EmoBench</a:t>
            </a:r>
            <a:endParaRPr lang="en-US" sz="1300" dirty="0"/>
          </a:p>
        </p:txBody>
      </p:sp>
      <p:sp>
        <p:nvSpPr>
          <p:cNvPr id="24" name="Shape 22"/>
          <p:cNvSpPr/>
          <p:nvPr/>
        </p:nvSpPr>
        <p:spPr>
          <a:xfrm>
            <a:off x="6528816" y="3355848"/>
            <a:ext cx="365760" cy="365760"/>
          </a:xfrm>
          <a:prstGeom prst="roundRect">
            <a:avLst>
              <a:gd name="adj" fmla="val 15000"/>
            </a:avLst>
          </a:prstGeom>
          <a:solidFill>
            <a:srgbClr val="1E4079"/>
          </a:solidFill>
          <a:ln w="12700">
            <a:solidFill>
              <a:srgbClr val="C9821B"/>
            </a:solidFill>
            <a:prstDash val="solid"/>
          </a:ln>
        </p:spPr>
        <p:txBody>
          <a:bodyPr/>
          <a:lstStyle/>
          <a:p>
            <a:endParaRPr lang="en-IN"/>
          </a:p>
        </p:txBody>
      </p:sp>
      <p:sp>
        <p:nvSpPr>
          <p:cNvPr id="25" name="Text 23"/>
          <p:cNvSpPr/>
          <p:nvPr/>
        </p:nvSpPr>
        <p:spPr>
          <a:xfrm>
            <a:off x="6528816" y="3355848"/>
            <a:ext cx="365760" cy="365760"/>
          </a:xfrm>
          <a:prstGeom prst="rect">
            <a:avLst/>
          </a:prstGeom>
          <a:noFill/>
          <a:ln/>
        </p:spPr>
        <p:txBody>
          <a:bodyPr wrap="square" lIns="0" tIns="0" rIns="0" bIns="0" rtlCol="0" anchor="ctr"/>
          <a:lstStyle/>
          <a:p>
            <a:pPr marL="0" indent="0" algn="ctr">
              <a:buNone/>
            </a:pPr>
            <a:r>
              <a:rPr lang="en-US" sz="1300" b="1" dirty="0">
                <a:solidFill>
                  <a:srgbClr val="C9821B"/>
                </a:solidFill>
                <a:latin typeface="Calibri" pitchFamily="34" charset="0"/>
                <a:ea typeface="Calibri" pitchFamily="34" charset="-122"/>
                <a:cs typeface="Calibri" pitchFamily="34" charset="-120"/>
              </a:rPr>
              <a:t>1</a:t>
            </a:r>
            <a:endParaRPr lang="en-US" sz="1300" dirty="0"/>
          </a:p>
        </p:txBody>
      </p:sp>
      <p:sp>
        <p:nvSpPr>
          <p:cNvPr id="26" name="Text 24"/>
          <p:cNvSpPr/>
          <p:nvPr/>
        </p:nvSpPr>
        <p:spPr>
          <a:xfrm>
            <a:off x="7022592" y="3300984"/>
            <a:ext cx="4480560" cy="822960"/>
          </a:xfrm>
          <a:prstGeom prst="rect">
            <a:avLst/>
          </a:prstGeom>
          <a:noFill/>
          <a:ln/>
        </p:spPr>
        <p:txBody>
          <a:bodyPr wrap="square" lIns="0" tIns="0" rIns="0" bIns="0" rtlCol="0" anchor="ctr"/>
          <a:lstStyle/>
          <a:p>
            <a:pPr marL="0" indent="0">
              <a:lnSpc>
                <a:spcPct val="105000"/>
              </a:lnSpc>
              <a:buNone/>
            </a:pPr>
            <a:r>
              <a:rPr lang="en-US" sz="1120" dirty="0">
                <a:solidFill>
                  <a:srgbClr val="E4EDFA"/>
                </a:solidFill>
                <a:latin typeface="Calibri" pitchFamily="34" charset="0"/>
                <a:ea typeface="Calibri" pitchFamily="34" charset="-122"/>
                <a:cs typeface="Calibri" pitchFamily="34" charset="-120"/>
              </a:rPr>
              <a:t>Focus narrowly on emotion recognition — neglect emotion regulation &amp; thought facilitation.</a:t>
            </a:r>
            <a:endParaRPr lang="en-US" sz="1120" dirty="0"/>
          </a:p>
        </p:txBody>
      </p:sp>
      <p:sp>
        <p:nvSpPr>
          <p:cNvPr id="27" name="Shape 25"/>
          <p:cNvSpPr/>
          <p:nvPr/>
        </p:nvSpPr>
        <p:spPr>
          <a:xfrm>
            <a:off x="6528816" y="4197096"/>
            <a:ext cx="365760" cy="365760"/>
          </a:xfrm>
          <a:prstGeom prst="roundRect">
            <a:avLst>
              <a:gd name="adj" fmla="val 15000"/>
            </a:avLst>
          </a:prstGeom>
          <a:solidFill>
            <a:srgbClr val="1E4079"/>
          </a:solidFill>
          <a:ln w="12700">
            <a:solidFill>
              <a:srgbClr val="C9821B"/>
            </a:solidFill>
            <a:prstDash val="solid"/>
          </a:ln>
        </p:spPr>
        <p:txBody>
          <a:bodyPr/>
          <a:lstStyle/>
          <a:p>
            <a:endParaRPr lang="en-IN"/>
          </a:p>
        </p:txBody>
      </p:sp>
      <p:sp>
        <p:nvSpPr>
          <p:cNvPr id="28" name="Text 26"/>
          <p:cNvSpPr/>
          <p:nvPr/>
        </p:nvSpPr>
        <p:spPr>
          <a:xfrm>
            <a:off x="6528816" y="4197096"/>
            <a:ext cx="365760" cy="365760"/>
          </a:xfrm>
          <a:prstGeom prst="rect">
            <a:avLst/>
          </a:prstGeom>
          <a:noFill/>
          <a:ln/>
        </p:spPr>
        <p:txBody>
          <a:bodyPr wrap="square" lIns="0" tIns="0" rIns="0" bIns="0" rtlCol="0" anchor="ctr"/>
          <a:lstStyle/>
          <a:p>
            <a:pPr marL="0" indent="0" algn="ctr">
              <a:buNone/>
            </a:pPr>
            <a:r>
              <a:rPr lang="en-US" sz="1300" b="1" dirty="0">
                <a:solidFill>
                  <a:srgbClr val="C9821B"/>
                </a:solidFill>
                <a:latin typeface="Calibri" pitchFamily="34" charset="0"/>
                <a:ea typeface="Calibri" pitchFamily="34" charset="-122"/>
                <a:cs typeface="Calibri" pitchFamily="34" charset="-120"/>
              </a:rPr>
              <a:t>2</a:t>
            </a:r>
            <a:endParaRPr lang="en-US" sz="1300" dirty="0"/>
          </a:p>
        </p:txBody>
      </p:sp>
      <p:sp>
        <p:nvSpPr>
          <p:cNvPr id="29" name="Text 27"/>
          <p:cNvSpPr/>
          <p:nvPr/>
        </p:nvSpPr>
        <p:spPr>
          <a:xfrm>
            <a:off x="7022592" y="4142232"/>
            <a:ext cx="4480560" cy="822960"/>
          </a:xfrm>
          <a:prstGeom prst="rect">
            <a:avLst/>
          </a:prstGeom>
          <a:noFill/>
          <a:ln/>
        </p:spPr>
        <p:txBody>
          <a:bodyPr wrap="square" lIns="0" tIns="0" rIns="0" bIns="0" rtlCol="0" anchor="ctr"/>
          <a:lstStyle/>
          <a:p>
            <a:pPr marL="0" indent="0">
              <a:lnSpc>
                <a:spcPct val="105000"/>
              </a:lnSpc>
              <a:buNone/>
            </a:pPr>
            <a:r>
              <a:rPr lang="en-US" sz="1120" dirty="0">
                <a:solidFill>
                  <a:srgbClr val="E4EDFA"/>
                </a:solidFill>
                <a:latin typeface="Calibri" pitchFamily="34" charset="0"/>
                <a:ea typeface="Calibri" pitchFamily="34" charset="-122"/>
                <a:cs typeface="Calibri" pitchFamily="34" charset="-120"/>
              </a:rPr>
              <a:t>Built from existing datasets with frequent patterns, explicit cues, and annotation errors → unreliable evaluation.</a:t>
            </a:r>
            <a:endParaRPr lang="en-US" sz="1120" dirty="0"/>
          </a:p>
        </p:txBody>
      </p:sp>
      <p:sp>
        <p:nvSpPr>
          <p:cNvPr id="30" name="Shape 28"/>
          <p:cNvSpPr/>
          <p:nvPr/>
        </p:nvSpPr>
        <p:spPr>
          <a:xfrm>
            <a:off x="6528816" y="5038344"/>
            <a:ext cx="365760" cy="365760"/>
          </a:xfrm>
          <a:prstGeom prst="roundRect">
            <a:avLst>
              <a:gd name="adj" fmla="val 15000"/>
            </a:avLst>
          </a:prstGeom>
          <a:solidFill>
            <a:srgbClr val="1E4079"/>
          </a:solidFill>
          <a:ln w="12700">
            <a:solidFill>
              <a:srgbClr val="C9821B"/>
            </a:solidFill>
            <a:prstDash val="solid"/>
          </a:ln>
        </p:spPr>
        <p:txBody>
          <a:bodyPr/>
          <a:lstStyle/>
          <a:p>
            <a:endParaRPr lang="en-IN"/>
          </a:p>
        </p:txBody>
      </p:sp>
      <p:sp>
        <p:nvSpPr>
          <p:cNvPr id="31" name="Text 29"/>
          <p:cNvSpPr/>
          <p:nvPr/>
        </p:nvSpPr>
        <p:spPr>
          <a:xfrm>
            <a:off x="6528816" y="5038344"/>
            <a:ext cx="365760" cy="365760"/>
          </a:xfrm>
          <a:prstGeom prst="rect">
            <a:avLst/>
          </a:prstGeom>
          <a:noFill/>
          <a:ln/>
        </p:spPr>
        <p:txBody>
          <a:bodyPr wrap="square" lIns="0" tIns="0" rIns="0" bIns="0" rtlCol="0" anchor="ctr"/>
          <a:lstStyle/>
          <a:p>
            <a:pPr marL="0" indent="0" algn="ctr">
              <a:buNone/>
            </a:pPr>
            <a:r>
              <a:rPr lang="en-US" sz="1300" b="1" dirty="0">
                <a:solidFill>
                  <a:srgbClr val="C9821B"/>
                </a:solidFill>
                <a:latin typeface="Calibri" pitchFamily="34" charset="0"/>
                <a:ea typeface="Calibri" pitchFamily="34" charset="-122"/>
                <a:cs typeface="Calibri" pitchFamily="34" charset="-120"/>
              </a:rPr>
              <a:t>3</a:t>
            </a:r>
            <a:endParaRPr lang="en-US" sz="1300" dirty="0"/>
          </a:p>
        </p:txBody>
      </p:sp>
      <p:sp>
        <p:nvSpPr>
          <p:cNvPr id="32" name="Text 30"/>
          <p:cNvSpPr/>
          <p:nvPr/>
        </p:nvSpPr>
        <p:spPr>
          <a:xfrm>
            <a:off x="7022592" y="4983480"/>
            <a:ext cx="4480560" cy="822960"/>
          </a:xfrm>
          <a:prstGeom prst="rect">
            <a:avLst/>
          </a:prstGeom>
          <a:noFill/>
          <a:ln/>
        </p:spPr>
        <p:txBody>
          <a:bodyPr wrap="square" lIns="0" tIns="0" rIns="0" bIns="0" rtlCol="0" anchor="ctr"/>
          <a:lstStyle/>
          <a:p>
            <a:pPr marL="0" indent="0">
              <a:lnSpc>
                <a:spcPct val="105000"/>
              </a:lnSpc>
              <a:buNone/>
            </a:pPr>
            <a:r>
              <a:rPr lang="en-US" sz="1120" dirty="0">
                <a:solidFill>
                  <a:srgbClr val="E4EDFA"/>
                </a:solidFill>
                <a:latin typeface="Calibri" pitchFamily="34" charset="0"/>
                <a:ea typeface="Calibri" pitchFamily="34" charset="-122"/>
                <a:cs typeface="Calibri" pitchFamily="34" charset="-120"/>
              </a:rPr>
              <a:t>EmoBench was proposed as a theory-based benchmark requiring genuine reasoning, not pattern matching.</a:t>
            </a:r>
            <a:endParaRPr lang="en-US" sz="1120" dirty="0"/>
          </a:p>
        </p:txBody>
      </p:sp>
      <p:sp>
        <p:nvSpPr>
          <p:cNvPr id="33" name="Shape 31"/>
          <p:cNvSpPr/>
          <p:nvPr/>
        </p:nvSpPr>
        <p:spPr>
          <a:xfrm>
            <a:off x="457200" y="6053328"/>
            <a:ext cx="11274552" cy="384048"/>
          </a:xfrm>
          <a:prstGeom prst="roundRect">
            <a:avLst>
              <a:gd name="adj" fmla="val 16667"/>
            </a:avLst>
          </a:prstGeom>
          <a:solidFill>
            <a:srgbClr val="0F2039"/>
          </a:solidFill>
          <a:ln w="12700">
            <a:solidFill>
              <a:srgbClr val="C9821B"/>
            </a:solidFill>
            <a:prstDash val="solid"/>
          </a:ln>
        </p:spPr>
        <p:txBody>
          <a:bodyPr/>
          <a:lstStyle/>
          <a:p>
            <a:endParaRPr lang="en-IN"/>
          </a:p>
        </p:txBody>
      </p:sp>
      <p:sp>
        <p:nvSpPr>
          <p:cNvPr id="34" name="Text 32"/>
          <p:cNvSpPr/>
          <p:nvPr/>
        </p:nvSpPr>
        <p:spPr>
          <a:xfrm>
            <a:off x="621792" y="6053328"/>
            <a:ext cx="10972800" cy="384048"/>
          </a:xfrm>
          <a:prstGeom prst="rect">
            <a:avLst/>
          </a:prstGeom>
          <a:noFill/>
          <a:ln/>
        </p:spPr>
        <p:txBody>
          <a:bodyPr wrap="square" lIns="0" tIns="0" rIns="0" bIns="0" rtlCol="0" anchor="ctr"/>
          <a:lstStyle/>
          <a:p>
            <a:pPr marL="0" indent="0">
              <a:buNone/>
            </a:pPr>
            <a:r>
              <a:rPr lang="en-US" sz="1100" b="1" dirty="0">
                <a:solidFill>
                  <a:srgbClr val="C9821B"/>
                </a:solidFill>
                <a:latin typeface="Calibri" pitchFamily="34" charset="0"/>
                <a:ea typeface="Calibri" pitchFamily="34" charset="-122"/>
                <a:cs typeface="Calibri" pitchFamily="34" charset="-120"/>
              </a:rPr>
              <a:t>KEY TAKEAWAY:  </a:t>
            </a:r>
            <a:r>
              <a:rPr lang="en-US" sz="1100" dirty="0">
                <a:solidFill>
                  <a:srgbClr val="FFFFFF"/>
                </a:solidFill>
                <a:latin typeface="Calibri" pitchFamily="34" charset="0"/>
                <a:ea typeface="Calibri" pitchFamily="34" charset="-122"/>
                <a:cs typeface="Calibri" pitchFamily="34" charset="-120"/>
              </a:rPr>
              <a:t>Prior EI benchmarks tested pattern-based recognition; EmoBench demands genuine emotional reasoning.</a:t>
            </a:r>
            <a:endParaRPr lang="en-US" sz="1100" dirty="0"/>
          </a:p>
        </p:txBody>
      </p:sp>
      <p:sp>
        <p:nvSpPr>
          <p:cNvPr id="36" name="Text 34"/>
          <p:cNvSpPr/>
          <p:nvPr/>
        </p:nvSpPr>
        <p:spPr>
          <a:xfrm>
            <a:off x="11457432" y="6528816"/>
            <a:ext cx="274320" cy="237744"/>
          </a:xfrm>
          <a:prstGeom prst="rect">
            <a:avLst/>
          </a:prstGeom>
          <a:noFill/>
          <a:ln/>
        </p:spPr>
        <p:txBody>
          <a:bodyPr wrap="square" lIns="0" tIns="0" rIns="0" bIns="0" rtlCol="0" anchor="ctr"/>
          <a:lstStyle/>
          <a:p>
            <a:pPr marL="0" indent="0" algn="r">
              <a:buNone/>
            </a:pPr>
            <a:r>
              <a:rPr lang="en-US" sz="850" dirty="0">
                <a:solidFill>
                  <a:srgbClr val="8FA9CC"/>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marL="0" indent="0">
              <a:buNone/>
            </a:pPr>
            <a:r>
              <a:rPr lang="en-US" sz="2500" b="1" dirty="0">
                <a:solidFill>
                  <a:srgbClr val="14315E"/>
                </a:solidFill>
                <a:latin typeface="Cambria" pitchFamily="34" charset="0"/>
                <a:ea typeface="Cambria" pitchFamily="34" charset="-122"/>
                <a:cs typeface="Cambria" pitchFamily="34" charset="-120"/>
              </a:rPr>
              <a:t>The EmoBench Framework</a:t>
            </a:r>
            <a:endParaRPr lang="en-US" sz="2500" dirty="0"/>
          </a:p>
        </p:txBody>
      </p:sp>
      <p:sp>
        <p:nvSpPr>
          <p:cNvPr id="3" name="Text 1"/>
          <p:cNvSpPr/>
          <p:nvPr/>
        </p:nvSpPr>
        <p:spPr>
          <a:xfrm>
            <a:off x="475488" y="777240"/>
            <a:ext cx="11247120" cy="292608"/>
          </a:xfrm>
          <a:prstGeom prst="rect">
            <a:avLst/>
          </a:prstGeom>
          <a:noFill/>
          <a:ln/>
        </p:spPr>
        <p:txBody>
          <a:bodyPr wrap="square" lIns="0" tIns="0" rIns="0" bIns="0" rtlCol="0" anchor="ctr"/>
          <a:lstStyle/>
          <a:p>
            <a:pPr marL="0" indent="0">
              <a:buNone/>
            </a:pPr>
            <a:r>
              <a:rPr lang="en-US" sz="1150" i="1" dirty="0">
                <a:solidFill>
                  <a:srgbClr val="5B6B7C"/>
                </a:solidFill>
                <a:latin typeface="Calibri" pitchFamily="34" charset="0"/>
                <a:ea typeface="Calibri" pitchFamily="34" charset="-122"/>
                <a:cs typeface="Calibri" pitchFamily="34" charset="-120"/>
              </a:rPr>
              <a:t>A theory-based, comprehensive definition of Machine Emotional Intelligence</a:t>
            </a:r>
            <a:endParaRPr lang="en-US" sz="1150" dirty="0"/>
          </a:p>
        </p:txBody>
      </p:sp>
      <p:sp>
        <p:nvSpPr>
          <p:cNvPr id="4" name="Shape 2"/>
          <p:cNvSpPr/>
          <p:nvPr/>
        </p:nvSpPr>
        <p:spPr>
          <a:xfrm>
            <a:off x="475488" y="1133856"/>
            <a:ext cx="1828800" cy="310896"/>
          </a:xfrm>
          <a:prstGeom prst="roundRect">
            <a:avLst>
              <a:gd name="adj" fmla="val 17647"/>
            </a:avLst>
          </a:prstGeom>
          <a:solidFill>
            <a:srgbClr val="2F6FB7"/>
          </a:solidFill>
          <a:ln/>
        </p:spPr>
        <p:txBody>
          <a:bodyPr/>
          <a:lstStyle/>
          <a:p>
            <a:endParaRPr lang="en-IN"/>
          </a:p>
        </p:txBody>
      </p:sp>
      <p:sp>
        <p:nvSpPr>
          <p:cNvPr id="5" name="Text 3"/>
          <p:cNvSpPr/>
          <p:nvPr/>
        </p:nvSpPr>
        <p:spPr>
          <a:xfrm>
            <a:off x="475488" y="1133856"/>
            <a:ext cx="182880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RESEARCH PAPER</a:t>
            </a:r>
            <a:endParaRPr lang="en-US" sz="1050" dirty="0"/>
          </a:p>
        </p:txBody>
      </p:sp>
      <p:sp>
        <p:nvSpPr>
          <p:cNvPr id="6" name="Text 4"/>
          <p:cNvSpPr/>
          <p:nvPr/>
        </p:nvSpPr>
        <p:spPr>
          <a:xfrm>
            <a:off x="502920" y="1572768"/>
            <a:ext cx="5532120" cy="658368"/>
          </a:xfrm>
          <a:prstGeom prst="rect">
            <a:avLst/>
          </a:prstGeom>
          <a:noFill/>
          <a:ln/>
        </p:spPr>
        <p:txBody>
          <a:bodyPr wrap="square" lIns="0" tIns="0" rIns="0" bIns="0" rtlCol="0" anchor="ctr"/>
          <a:lstStyle/>
          <a:p>
            <a:pPr marL="0" indent="0">
              <a:lnSpc>
                <a:spcPct val="110000"/>
              </a:lnSpc>
              <a:buNone/>
            </a:pPr>
            <a:r>
              <a:rPr lang="en-US" sz="1200" i="1" dirty="0">
                <a:solidFill>
                  <a:srgbClr val="1B2430"/>
                </a:solidFill>
                <a:latin typeface="Calibri" pitchFamily="34" charset="0"/>
                <a:ea typeface="Calibri" pitchFamily="34" charset="-122"/>
                <a:cs typeface="Calibri" pitchFamily="34" charset="-120"/>
              </a:rPr>
              <a:t>Machine EI = accurately understand emotions and appropriately apply that understanding to manage emotions and facilitate thought.</a:t>
            </a:r>
            <a:endParaRPr lang="en-US" sz="1200" dirty="0"/>
          </a:p>
        </p:txBody>
      </p:sp>
      <p:sp>
        <p:nvSpPr>
          <p:cNvPr id="7" name="Shape 5"/>
          <p:cNvSpPr/>
          <p:nvPr/>
        </p:nvSpPr>
        <p:spPr>
          <a:xfrm>
            <a:off x="502920" y="2350008"/>
            <a:ext cx="2651760" cy="1600200"/>
          </a:xfrm>
          <a:prstGeom prst="roundRect">
            <a:avLst>
              <a:gd name="adj" fmla="val 4571"/>
            </a:avLst>
          </a:prstGeom>
          <a:solidFill>
            <a:srgbClr val="EAF1FB"/>
          </a:solidFill>
          <a:ln w="12700">
            <a:solidFill>
              <a:srgbClr val="C7D4E3"/>
            </a:solidFill>
            <a:prstDash val="solid"/>
          </a:ln>
        </p:spPr>
        <p:txBody>
          <a:bodyPr/>
          <a:lstStyle/>
          <a:p>
            <a:endParaRPr lang="en-IN"/>
          </a:p>
        </p:txBody>
      </p:sp>
      <p:sp>
        <p:nvSpPr>
          <p:cNvPr id="8" name="Shape 6"/>
          <p:cNvSpPr/>
          <p:nvPr/>
        </p:nvSpPr>
        <p:spPr>
          <a:xfrm>
            <a:off x="754380" y="2510028"/>
            <a:ext cx="502920" cy="502920"/>
          </a:xfrm>
          <a:prstGeom prst="ellipse">
            <a:avLst/>
          </a:prstGeom>
          <a:solidFill>
            <a:srgbClr val="2F6FB7"/>
          </a:solidFill>
          <a:ln/>
        </p:spPr>
        <p:txBody>
          <a:bodyPr/>
          <a:lstStyle/>
          <a:p>
            <a:endParaRPr lang="en-IN"/>
          </a:p>
        </p:txBody>
      </p:sp>
      <p:sp>
        <p:nvSpPr>
          <p:cNvPr id="9" name="Text 7"/>
          <p:cNvSpPr/>
          <p:nvPr/>
        </p:nvSpPr>
        <p:spPr>
          <a:xfrm>
            <a:off x="754380" y="251002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EU</a:t>
            </a:r>
            <a:endParaRPr lang="en-US" sz="1300" dirty="0"/>
          </a:p>
        </p:txBody>
      </p:sp>
      <p:sp>
        <p:nvSpPr>
          <p:cNvPr id="10" name="Text 8"/>
          <p:cNvSpPr/>
          <p:nvPr/>
        </p:nvSpPr>
        <p:spPr>
          <a:xfrm>
            <a:off x="1371600" y="2514600"/>
            <a:ext cx="1691640" cy="548640"/>
          </a:xfrm>
          <a:prstGeom prst="rect">
            <a:avLst/>
          </a:prstGeom>
          <a:noFill/>
          <a:ln/>
        </p:spPr>
        <p:txBody>
          <a:bodyPr wrap="square" lIns="0" tIns="0" rIns="0" bIns="0" rtlCol="0" anchor="ctr"/>
          <a:lstStyle/>
          <a:p>
            <a:pPr marL="0" indent="0">
              <a:buNone/>
            </a:pPr>
            <a:r>
              <a:rPr lang="en-US" sz="1150" b="1" dirty="0">
                <a:solidFill>
                  <a:srgbClr val="14315E"/>
                </a:solidFill>
                <a:latin typeface="Cambria" pitchFamily="34" charset="0"/>
                <a:ea typeface="Cambria" pitchFamily="34" charset="-122"/>
                <a:cs typeface="Cambria" pitchFamily="34" charset="-120"/>
              </a:rPr>
              <a:t>Emotional</a:t>
            </a:r>
            <a:endParaRPr lang="en-US" sz="1150" dirty="0"/>
          </a:p>
          <a:p>
            <a:pPr marL="0" indent="0">
              <a:buNone/>
            </a:pPr>
            <a:r>
              <a:rPr lang="en-US" sz="1150" b="1" dirty="0">
                <a:solidFill>
                  <a:srgbClr val="14315E"/>
                </a:solidFill>
                <a:latin typeface="Cambria" pitchFamily="34" charset="0"/>
                <a:ea typeface="Cambria" pitchFamily="34" charset="-122"/>
                <a:cs typeface="Cambria" pitchFamily="34" charset="-120"/>
              </a:rPr>
              <a:t>Understanding</a:t>
            </a:r>
            <a:endParaRPr lang="en-US" sz="1150" dirty="0"/>
          </a:p>
        </p:txBody>
      </p:sp>
      <p:sp>
        <p:nvSpPr>
          <p:cNvPr id="11" name="Text 9"/>
          <p:cNvSpPr/>
          <p:nvPr/>
        </p:nvSpPr>
        <p:spPr>
          <a:xfrm>
            <a:off x="685800" y="3127248"/>
            <a:ext cx="2286000" cy="749808"/>
          </a:xfrm>
          <a:prstGeom prst="rect">
            <a:avLst/>
          </a:prstGeom>
          <a:noFill/>
          <a:ln/>
        </p:spPr>
        <p:txBody>
          <a:bodyPr wrap="square" lIns="0" tIns="0" rIns="0" bIns="0" rtlCol="0" anchor="ctr"/>
          <a:lstStyle/>
          <a:p>
            <a:pPr marL="0" indent="0">
              <a:lnSpc>
                <a:spcPct val="105000"/>
              </a:lnSpc>
              <a:buNone/>
            </a:pPr>
            <a:r>
              <a:rPr lang="en-US" sz="1000" dirty="0">
                <a:solidFill>
                  <a:srgbClr val="1B2430"/>
                </a:solidFill>
                <a:latin typeface="Calibri" pitchFamily="34" charset="0"/>
                <a:ea typeface="Calibri" pitchFamily="34" charset="-122"/>
                <a:cs typeface="Calibri" pitchFamily="34" charset="-120"/>
              </a:rPr>
              <a:t>Identify emotions &amp; their causes in complex, multi-person scenarios.</a:t>
            </a:r>
            <a:endParaRPr lang="en-US" sz="1000" dirty="0"/>
          </a:p>
        </p:txBody>
      </p:sp>
      <p:sp>
        <p:nvSpPr>
          <p:cNvPr id="12" name="Shape 10"/>
          <p:cNvSpPr/>
          <p:nvPr/>
        </p:nvSpPr>
        <p:spPr>
          <a:xfrm>
            <a:off x="3337560" y="2350008"/>
            <a:ext cx="2651760" cy="1600200"/>
          </a:xfrm>
          <a:prstGeom prst="roundRect">
            <a:avLst>
              <a:gd name="adj" fmla="val 4571"/>
            </a:avLst>
          </a:prstGeom>
          <a:solidFill>
            <a:srgbClr val="EAF1FB"/>
          </a:solidFill>
          <a:ln w="12700">
            <a:solidFill>
              <a:srgbClr val="C7D4E3"/>
            </a:solidFill>
            <a:prstDash val="solid"/>
          </a:ln>
        </p:spPr>
        <p:txBody>
          <a:bodyPr/>
          <a:lstStyle/>
          <a:p>
            <a:endParaRPr lang="en-IN"/>
          </a:p>
        </p:txBody>
      </p:sp>
      <p:sp>
        <p:nvSpPr>
          <p:cNvPr id="13" name="Shape 11"/>
          <p:cNvSpPr/>
          <p:nvPr/>
        </p:nvSpPr>
        <p:spPr>
          <a:xfrm>
            <a:off x="3589020" y="2510028"/>
            <a:ext cx="502920" cy="502920"/>
          </a:xfrm>
          <a:prstGeom prst="ellipse">
            <a:avLst/>
          </a:prstGeom>
          <a:solidFill>
            <a:srgbClr val="14315E"/>
          </a:solidFill>
          <a:ln/>
        </p:spPr>
        <p:txBody>
          <a:bodyPr/>
          <a:lstStyle/>
          <a:p>
            <a:endParaRPr lang="en-IN"/>
          </a:p>
        </p:txBody>
      </p:sp>
      <p:sp>
        <p:nvSpPr>
          <p:cNvPr id="14" name="Text 12"/>
          <p:cNvSpPr/>
          <p:nvPr/>
        </p:nvSpPr>
        <p:spPr>
          <a:xfrm>
            <a:off x="3589020" y="251002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EA</a:t>
            </a:r>
            <a:endParaRPr lang="en-US" sz="1300" dirty="0"/>
          </a:p>
        </p:txBody>
      </p:sp>
      <p:sp>
        <p:nvSpPr>
          <p:cNvPr id="15" name="Text 13"/>
          <p:cNvSpPr/>
          <p:nvPr/>
        </p:nvSpPr>
        <p:spPr>
          <a:xfrm>
            <a:off x="4206240" y="2514600"/>
            <a:ext cx="1691640" cy="548640"/>
          </a:xfrm>
          <a:prstGeom prst="rect">
            <a:avLst/>
          </a:prstGeom>
          <a:noFill/>
          <a:ln/>
        </p:spPr>
        <p:txBody>
          <a:bodyPr wrap="square" lIns="0" tIns="0" rIns="0" bIns="0" rtlCol="0" anchor="ctr"/>
          <a:lstStyle/>
          <a:p>
            <a:pPr marL="0" indent="0">
              <a:buNone/>
            </a:pPr>
            <a:r>
              <a:rPr lang="en-US" sz="1150" b="1" dirty="0">
                <a:solidFill>
                  <a:srgbClr val="14315E"/>
                </a:solidFill>
                <a:latin typeface="Cambria" pitchFamily="34" charset="0"/>
                <a:ea typeface="Cambria" pitchFamily="34" charset="-122"/>
                <a:cs typeface="Cambria" pitchFamily="34" charset="-120"/>
              </a:rPr>
              <a:t>Emotional</a:t>
            </a:r>
            <a:endParaRPr lang="en-US" sz="1150" dirty="0"/>
          </a:p>
          <a:p>
            <a:pPr marL="0" indent="0">
              <a:buNone/>
            </a:pPr>
            <a:r>
              <a:rPr lang="en-US" sz="1150" b="1" dirty="0">
                <a:solidFill>
                  <a:srgbClr val="14315E"/>
                </a:solidFill>
                <a:latin typeface="Cambria" pitchFamily="34" charset="0"/>
                <a:ea typeface="Cambria" pitchFamily="34" charset="-122"/>
                <a:cs typeface="Cambria" pitchFamily="34" charset="-120"/>
              </a:rPr>
              <a:t>Application</a:t>
            </a:r>
            <a:endParaRPr lang="en-US" sz="1150" dirty="0"/>
          </a:p>
        </p:txBody>
      </p:sp>
      <p:sp>
        <p:nvSpPr>
          <p:cNvPr id="16" name="Text 14"/>
          <p:cNvSpPr/>
          <p:nvPr/>
        </p:nvSpPr>
        <p:spPr>
          <a:xfrm>
            <a:off x="3547872" y="3127248"/>
            <a:ext cx="2286000" cy="749808"/>
          </a:xfrm>
          <a:prstGeom prst="rect">
            <a:avLst/>
          </a:prstGeom>
          <a:noFill/>
          <a:ln/>
        </p:spPr>
        <p:txBody>
          <a:bodyPr wrap="square" lIns="0" tIns="0" rIns="0" bIns="0" rtlCol="0" anchor="ctr"/>
          <a:lstStyle/>
          <a:p>
            <a:pPr marL="0" indent="0">
              <a:lnSpc>
                <a:spcPct val="105000"/>
              </a:lnSpc>
              <a:buNone/>
            </a:pPr>
            <a:r>
              <a:rPr lang="en-US" sz="1000" dirty="0">
                <a:solidFill>
                  <a:srgbClr val="1B2430"/>
                </a:solidFill>
                <a:latin typeface="Calibri" pitchFamily="34" charset="0"/>
                <a:ea typeface="Calibri" pitchFamily="34" charset="-122"/>
                <a:cs typeface="Calibri" pitchFamily="34" charset="-120"/>
              </a:rPr>
              <a:t>Recommend the most effective response/action in an emotional dilemma.</a:t>
            </a:r>
            <a:endParaRPr lang="en-US" sz="1000" dirty="0"/>
          </a:p>
        </p:txBody>
      </p:sp>
      <p:sp>
        <p:nvSpPr>
          <p:cNvPr id="17" name="Shape 15"/>
          <p:cNvSpPr/>
          <p:nvPr/>
        </p:nvSpPr>
        <p:spPr>
          <a:xfrm>
            <a:off x="502920" y="4160520"/>
            <a:ext cx="1709928" cy="868680"/>
          </a:xfrm>
          <a:prstGeom prst="roundRect">
            <a:avLst>
              <a:gd name="adj" fmla="val 8421"/>
            </a:avLst>
          </a:prstGeom>
          <a:solidFill>
            <a:srgbClr val="14315E"/>
          </a:solidFill>
          <a:ln/>
        </p:spPr>
        <p:txBody>
          <a:bodyPr/>
          <a:lstStyle/>
          <a:p>
            <a:endParaRPr lang="en-IN"/>
          </a:p>
        </p:txBody>
      </p:sp>
      <p:sp>
        <p:nvSpPr>
          <p:cNvPr id="18" name="Text 16"/>
          <p:cNvSpPr/>
          <p:nvPr/>
        </p:nvSpPr>
        <p:spPr>
          <a:xfrm>
            <a:off x="502920" y="4215384"/>
            <a:ext cx="1709928" cy="420624"/>
          </a:xfrm>
          <a:prstGeom prst="rect">
            <a:avLst/>
          </a:prstGeom>
          <a:noFill/>
          <a:ln/>
        </p:spPr>
        <p:txBody>
          <a:bodyPr wrap="square" lIns="0" tIns="0" rIns="0" bIns="0" rtlCol="0" anchor="ctr"/>
          <a:lstStyle/>
          <a:p>
            <a:pPr marL="0" indent="0" algn="ctr">
              <a:buNone/>
            </a:pPr>
            <a:r>
              <a:rPr lang="en-US" sz="2000" b="1" dirty="0">
                <a:solidFill>
                  <a:srgbClr val="C9821B"/>
                </a:solidFill>
                <a:latin typeface="Cambria" pitchFamily="34" charset="0"/>
                <a:ea typeface="Cambria" pitchFamily="34" charset="-122"/>
                <a:cs typeface="Cambria" pitchFamily="34" charset="-120"/>
              </a:rPr>
              <a:t>400</a:t>
            </a:r>
            <a:endParaRPr lang="en-US" sz="2000" dirty="0"/>
          </a:p>
        </p:txBody>
      </p:sp>
      <p:sp>
        <p:nvSpPr>
          <p:cNvPr id="19" name="Text 17"/>
          <p:cNvSpPr/>
          <p:nvPr/>
        </p:nvSpPr>
        <p:spPr>
          <a:xfrm>
            <a:off x="502920" y="4636008"/>
            <a:ext cx="170992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Hand-crafted MCQs</a:t>
            </a:r>
            <a:endParaRPr lang="en-US" sz="950" dirty="0"/>
          </a:p>
        </p:txBody>
      </p:sp>
      <p:sp>
        <p:nvSpPr>
          <p:cNvPr id="20" name="Shape 18"/>
          <p:cNvSpPr/>
          <p:nvPr/>
        </p:nvSpPr>
        <p:spPr>
          <a:xfrm>
            <a:off x="2359152" y="4160520"/>
            <a:ext cx="1709928" cy="868680"/>
          </a:xfrm>
          <a:prstGeom prst="roundRect">
            <a:avLst>
              <a:gd name="adj" fmla="val 8421"/>
            </a:avLst>
          </a:prstGeom>
          <a:solidFill>
            <a:srgbClr val="14315E"/>
          </a:solidFill>
          <a:ln/>
        </p:spPr>
        <p:txBody>
          <a:bodyPr/>
          <a:lstStyle/>
          <a:p>
            <a:endParaRPr lang="en-IN"/>
          </a:p>
        </p:txBody>
      </p:sp>
      <p:sp>
        <p:nvSpPr>
          <p:cNvPr id="21" name="Text 19"/>
          <p:cNvSpPr/>
          <p:nvPr/>
        </p:nvSpPr>
        <p:spPr>
          <a:xfrm>
            <a:off x="2359152" y="4215384"/>
            <a:ext cx="1709928" cy="420624"/>
          </a:xfrm>
          <a:prstGeom prst="rect">
            <a:avLst/>
          </a:prstGeom>
          <a:noFill/>
          <a:ln/>
        </p:spPr>
        <p:txBody>
          <a:bodyPr wrap="square" lIns="0" tIns="0" rIns="0" bIns="0" rtlCol="0" anchor="ctr"/>
          <a:lstStyle/>
          <a:p>
            <a:pPr marL="0" indent="0" algn="ctr">
              <a:buNone/>
            </a:pPr>
            <a:r>
              <a:rPr lang="en-US" sz="2000" b="1" dirty="0">
                <a:solidFill>
                  <a:srgbClr val="C9821B"/>
                </a:solidFill>
                <a:latin typeface="Cambria" pitchFamily="34" charset="0"/>
                <a:ea typeface="Cambria" pitchFamily="34" charset="-122"/>
                <a:cs typeface="Cambria" pitchFamily="34" charset="-120"/>
              </a:rPr>
              <a:t>2</a:t>
            </a:r>
            <a:endParaRPr lang="en-US" sz="2000" dirty="0"/>
          </a:p>
        </p:txBody>
      </p:sp>
      <p:sp>
        <p:nvSpPr>
          <p:cNvPr id="22" name="Text 20"/>
          <p:cNvSpPr/>
          <p:nvPr/>
        </p:nvSpPr>
        <p:spPr>
          <a:xfrm>
            <a:off x="2359152" y="4636008"/>
            <a:ext cx="170992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Languages: EN + ZH</a:t>
            </a:r>
            <a:endParaRPr lang="en-US" sz="950" dirty="0"/>
          </a:p>
        </p:txBody>
      </p:sp>
      <p:sp>
        <p:nvSpPr>
          <p:cNvPr id="23" name="Shape 21"/>
          <p:cNvSpPr/>
          <p:nvPr/>
        </p:nvSpPr>
        <p:spPr>
          <a:xfrm>
            <a:off x="4215384" y="4160520"/>
            <a:ext cx="1709928" cy="868680"/>
          </a:xfrm>
          <a:prstGeom prst="roundRect">
            <a:avLst>
              <a:gd name="adj" fmla="val 8421"/>
            </a:avLst>
          </a:prstGeom>
          <a:solidFill>
            <a:srgbClr val="14315E"/>
          </a:solidFill>
          <a:ln/>
        </p:spPr>
        <p:txBody>
          <a:bodyPr/>
          <a:lstStyle/>
          <a:p>
            <a:endParaRPr lang="en-IN"/>
          </a:p>
        </p:txBody>
      </p:sp>
      <p:sp>
        <p:nvSpPr>
          <p:cNvPr id="24" name="Text 22"/>
          <p:cNvSpPr/>
          <p:nvPr/>
        </p:nvSpPr>
        <p:spPr>
          <a:xfrm>
            <a:off x="4215384" y="4215384"/>
            <a:ext cx="1709928" cy="420624"/>
          </a:xfrm>
          <a:prstGeom prst="rect">
            <a:avLst/>
          </a:prstGeom>
          <a:noFill/>
          <a:ln/>
        </p:spPr>
        <p:txBody>
          <a:bodyPr wrap="square" lIns="0" tIns="0" rIns="0" bIns="0" rtlCol="0" anchor="ctr"/>
          <a:lstStyle/>
          <a:p>
            <a:pPr marL="0" indent="0" algn="ctr">
              <a:buNone/>
            </a:pPr>
            <a:r>
              <a:rPr lang="en-US" sz="2000" b="1" dirty="0">
                <a:solidFill>
                  <a:srgbClr val="C9821B"/>
                </a:solidFill>
                <a:latin typeface="Cambria" pitchFamily="34" charset="0"/>
                <a:ea typeface="Cambria" pitchFamily="34" charset="-122"/>
                <a:cs typeface="Cambria" pitchFamily="34" charset="-120"/>
              </a:rPr>
              <a:t>121</a:t>
            </a:r>
            <a:endParaRPr lang="en-US" sz="2000" dirty="0"/>
          </a:p>
        </p:txBody>
      </p:sp>
      <p:sp>
        <p:nvSpPr>
          <p:cNvPr id="25" name="Text 23"/>
          <p:cNvSpPr/>
          <p:nvPr/>
        </p:nvSpPr>
        <p:spPr>
          <a:xfrm>
            <a:off x="4215384" y="4636008"/>
            <a:ext cx="1709928" cy="32918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Base scenarios</a:t>
            </a:r>
            <a:endParaRPr lang="en-US" sz="950" dirty="0"/>
          </a:p>
        </p:txBody>
      </p:sp>
      <p:sp>
        <p:nvSpPr>
          <p:cNvPr id="26" name="Text 24"/>
          <p:cNvSpPr/>
          <p:nvPr/>
        </p:nvSpPr>
        <p:spPr>
          <a:xfrm>
            <a:off x="502920" y="5120640"/>
            <a:ext cx="5577840" cy="365760"/>
          </a:xfrm>
          <a:prstGeom prst="rect">
            <a:avLst/>
          </a:prstGeom>
          <a:noFill/>
          <a:ln/>
        </p:spPr>
        <p:txBody>
          <a:bodyPr wrap="square" lIns="0" tIns="0" rIns="0" bIns="0" rtlCol="0" anchor="ctr"/>
          <a:lstStyle/>
          <a:p>
            <a:pPr marL="0" indent="0">
              <a:buNone/>
            </a:pPr>
            <a:r>
              <a:rPr lang="en-US" sz="950" i="1" dirty="0">
                <a:solidFill>
                  <a:srgbClr val="5B6B7C"/>
                </a:solidFill>
                <a:latin typeface="Calibri" pitchFamily="34" charset="0"/>
                <a:ea typeface="Calibri" pitchFamily="34" charset="-122"/>
                <a:cs typeface="Calibri" pitchFamily="34" charset="-120"/>
              </a:rPr>
              <a:t>Grounded in Salovey &amp; Mayer, Goleman, Schuller &amp; Schuller, and MacCann &amp; Roberts.</a:t>
            </a:r>
            <a:endParaRPr lang="en-US" sz="950" dirty="0"/>
          </a:p>
        </p:txBody>
      </p:sp>
      <p:sp>
        <p:nvSpPr>
          <p:cNvPr id="27" name="Text 25"/>
          <p:cNvSpPr/>
          <p:nvPr/>
        </p:nvSpPr>
        <p:spPr>
          <a:xfrm>
            <a:off x="6949440" y="1572768"/>
            <a:ext cx="4754880" cy="320040"/>
          </a:xfrm>
          <a:prstGeom prst="rect">
            <a:avLst/>
          </a:prstGeom>
          <a:noFill/>
          <a:ln/>
        </p:spPr>
        <p:txBody>
          <a:bodyPr wrap="square" lIns="0" tIns="0" rIns="0" bIns="0" rtlCol="0" anchor="ctr"/>
          <a:lstStyle/>
          <a:p>
            <a:pPr marL="0" indent="0">
              <a:buNone/>
            </a:pPr>
            <a:r>
              <a:rPr lang="en-US" sz="1300" b="1" dirty="0">
                <a:solidFill>
                  <a:srgbClr val="14315E"/>
                </a:solidFill>
                <a:latin typeface="Cambria" pitchFamily="34" charset="0"/>
                <a:ea typeface="Cambria" pitchFamily="34" charset="-122"/>
                <a:cs typeface="Cambria" pitchFamily="34" charset="-120"/>
              </a:rPr>
              <a:t>Paper's Evaluation Pipeline</a:t>
            </a:r>
            <a:endParaRPr lang="en-US" sz="1300" dirty="0"/>
          </a:p>
        </p:txBody>
      </p:sp>
      <p:sp>
        <p:nvSpPr>
          <p:cNvPr id="28" name="Shape 26"/>
          <p:cNvSpPr/>
          <p:nvPr/>
        </p:nvSpPr>
        <p:spPr>
          <a:xfrm>
            <a:off x="6949440" y="1938528"/>
            <a:ext cx="4754880" cy="530352"/>
          </a:xfrm>
          <a:prstGeom prst="roundRect">
            <a:avLst>
              <a:gd name="adj" fmla="val 12069"/>
            </a:avLst>
          </a:prstGeom>
          <a:solidFill>
            <a:srgbClr val="14315E"/>
          </a:solidFill>
          <a:ln/>
        </p:spPr>
        <p:txBody>
          <a:bodyPr/>
          <a:lstStyle/>
          <a:p>
            <a:endParaRPr lang="en-IN"/>
          </a:p>
        </p:txBody>
      </p:sp>
      <p:sp>
        <p:nvSpPr>
          <p:cNvPr id="29" name="Text 27"/>
          <p:cNvSpPr/>
          <p:nvPr/>
        </p:nvSpPr>
        <p:spPr>
          <a:xfrm>
            <a:off x="7004304" y="1938528"/>
            <a:ext cx="4645152"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p>
        </p:txBody>
      </p:sp>
      <p:sp>
        <p:nvSpPr>
          <p:cNvPr id="30" name="Shape 28"/>
          <p:cNvSpPr/>
          <p:nvPr/>
        </p:nvSpPr>
        <p:spPr>
          <a:xfrm rot="10800000">
            <a:off x="9253728" y="2478024"/>
            <a:ext cx="146304" cy="73152"/>
          </a:xfrm>
          <a:prstGeom prst="triangle">
            <a:avLst/>
          </a:prstGeom>
          <a:solidFill>
            <a:srgbClr val="5B6B7C"/>
          </a:solidFill>
          <a:ln/>
        </p:spPr>
        <p:txBody>
          <a:bodyPr/>
          <a:lstStyle/>
          <a:p>
            <a:endParaRPr lang="en-IN"/>
          </a:p>
        </p:txBody>
      </p:sp>
      <p:sp>
        <p:nvSpPr>
          <p:cNvPr id="31" name="Shape 29"/>
          <p:cNvSpPr/>
          <p:nvPr/>
        </p:nvSpPr>
        <p:spPr>
          <a:xfrm>
            <a:off x="6949440" y="2592324"/>
            <a:ext cx="4754880" cy="530352"/>
          </a:xfrm>
          <a:prstGeom prst="roundRect">
            <a:avLst>
              <a:gd name="adj" fmla="val 12069"/>
            </a:avLst>
          </a:prstGeom>
          <a:solidFill>
            <a:srgbClr val="2F6FB7"/>
          </a:solidFill>
          <a:ln/>
        </p:spPr>
        <p:txBody>
          <a:bodyPr/>
          <a:lstStyle/>
          <a:p>
            <a:endParaRPr lang="en-IN"/>
          </a:p>
        </p:txBody>
      </p:sp>
      <p:sp>
        <p:nvSpPr>
          <p:cNvPr id="32" name="Text 30"/>
          <p:cNvSpPr/>
          <p:nvPr/>
        </p:nvSpPr>
        <p:spPr>
          <a:xfrm>
            <a:off x="7004304" y="2592324"/>
            <a:ext cx="4645152"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Prompt</a:t>
            </a:r>
            <a:endParaRPr lang="en-US" sz="1150" dirty="0"/>
          </a:p>
        </p:txBody>
      </p:sp>
      <p:sp>
        <p:nvSpPr>
          <p:cNvPr id="33" name="Shape 31"/>
          <p:cNvSpPr/>
          <p:nvPr/>
        </p:nvSpPr>
        <p:spPr>
          <a:xfrm rot="10800000">
            <a:off x="9253728" y="3131820"/>
            <a:ext cx="146304" cy="73152"/>
          </a:xfrm>
          <a:prstGeom prst="triangle">
            <a:avLst/>
          </a:prstGeom>
          <a:solidFill>
            <a:srgbClr val="5B6B7C"/>
          </a:solidFill>
          <a:ln/>
        </p:spPr>
        <p:txBody>
          <a:bodyPr/>
          <a:lstStyle/>
          <a:p>
            <a:endParaRPr lang="en-IN"/>
          </a:p>
        </p:txBody>
      </p:sp>
      <p:sp>
        <p:nvSpPr>
          <p:cNvPr id="34" name="Shape 32"/>
          <p:cNvSpPr/>
          <p:nvPr/>
        </p:nvSpPr>
        <p:spPr>
          <a:xfrm>
            <a:off x="6949440" y="3246120"/>
            <a:ext cx="4754880" cy="530352"/>
          </a:xfrm>
          <a:prstGeom prst="roundRect">
            <a:avLst>
              <a:gd name="adj" fmla="val 12069"/>
            </a:avLst>
          </a:prstGeom>
          <a:solidFill>
            <a:srgbClr val="14315E"/>
          </a:solidFill>
          <a:ln/>
        </p:spPr>
        <p:txBody>
          <a:bodyPr/>
          <a:lstStyle/>
          <a:p>
            <a:endParaRPr lang="en-IN"/>
          </a:p>
        </p:txBody>
      </p:sp>
      <p:sp>
        <p:nvSpPr>
          <p:cNvPr id="35" name="Text 33"/>
          <p:cNvSpPr/>
          <p:nvPr/>
        </p:nvSpPr>
        <p:spPr>
          <a:xfrm>
            <a:off x="7004304" y="3246120"/>
            <a:ext cx="4645152"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LLM</a:t>
            </a:r>
            <a:endParaRPr lang="en-US" sz="1150" dirty="0"/>
          </a:p>
        </p:txBody>
      </p:sp>
      <p:sp>
        <p:nvSpPr>
          <p:cNvPr id="36" name="Shape 34"/>
          <p:cNvSpPr/>
          <p:nvPr/>
        </p:nvSpPr>
        <p:spPr>
          <a:xfrm rot="10800000">
            <a:off x="9253728" y="3785616"/>
            <a:ext cx="146304" cy="73152"/>
          </a:xfrm>
          <a:prstGeom prst="triangle">
            <a:avLst/>
          </a:prstGeom>
          <a:solidFill>
            <a:srgbClr val="5B6B7C"/>
          </a:solidFill>
          <a:ln/>
        </p:spPr>
        <p:txBody>
          <a:bodyPr/>
          <a:lstStyle/>
          <a:p>
            <a:endParaRPr lang="en-IN"/>
          </a:p>
        </p:txBody>
      </p:sp>
      <p:sp>
        <p:nvSpPr>
          <p:cNvPr id="37" name="Shape 35"/>
          <p:cNvSpPr/>
          <p:nvPr/>
        </p:nvSpPr>
        <p:spPr>
          <a:xfrm>
            <a:off x="6949440" y="3899916"/>
            <a:ext cx="4754880" cy="530352"/>
          </a:xfrm>
          <a:prstGeom prst="roundRect">
            <a:avLst>
              <a:gd name="adj" fmla="val 12069"/>
            </a:avLst>
          </a:prstGeom>
          <a:solidFill>
            <a:srgbClr val="2F6FB7"/>
          </a:solidFill>
          <a:ln/>
        </p:spPr>
        <p:txBody>
          <a:bodyPr/>
          <a:lstStyle/>
          <a:p>
            <a:endParaRPr lang="en-IN"/>
          </a:p>
        </p:txBody>
      </p:sp>
      <p:sp>
        <p:nvSpPr>
          <p:cNvPr id="38" name="Text 36"/>
          <p:cNvSpPr/>
          <p:nvPr/>
        </p:nvSpPr>
        <p:spPr>
          <a:xfrm>
            <a:off x="7004304" y="3899916"/>
            <a:ext cx="4645152"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Prediction</a:t>
            </a:r>
            <a:endParaRPr lang="en-US" sz="1150" dirty="0"/>
          </a:p>
        </p:txBody>
      </p:sp>
      <p:sp>
        <p:nvSpPr>
          <p:cNvPr id="39" name="Shape 37"/>
          <p:cNvSpPr/>
          <p:nvPr/>
        </p:nvSpPr>
        <p:spPr>
          <a:xfrm rot="10800000">
            <a:off x="9253728" y="4439412"/>
            <a:ext cx="146304" cy="73152"/>
          </a:xfrm>
          <a:prstGeom prst="triangle">
            <a:avLst/>
          </a:prstGeom>
          <a:solidFill>
            <a:srgbClr val="5B6B7C"/>
          </a:solidFill>
          <a:ln/>
        </p:spPr>
        <p:txBody>
          <a:bodyPr/>
          <a:lstStyle/>
          <a:p>
            <a:endParaRPr lang="en-IN"/>
          </a:p>
        </p:txBody>
      </p:sp>
      <p:sp>
        <p:nvSpPr>
          <p:cNvPr id="40" name="Shape 38"/>
          <p:cNvSpPr/>
          <p:nvPr/>
        </p:nvSpPr>
        <p:spPr>
          <a:xfrm>
            <a:off x="6949440" y="4553712"/>
            <a:ext cx="4754880" cy="530352"/>
          </a:xfrm>
          <a:prstGeom prst="roundRect">
            <a:avLst>
              <a:gd name="adj" fmla="val 12069"/>
            </a:avLst>
          </a:prstGeom>
          <a:solidFill>
            <a:srgbClr val="14315E"/>
          </a:solidFill>
          <a:ln/>
        </p:spPr>
        <p:txBody>
          <a:bodyPr/>
          <a:lstStyle/>
          <a:p>
            <a:endParaRPr lang="en-IN"/>
          </a:p>
        </p:txBody>
      </p:sp>
      <p:sp>
        <p:nvSpPr>
          <p:cNvPr id="41" name="Text 39"/>
          <p:cNvSpPr/>
          <p:nvPr/>
        </p:nvSpPr>
        <p:spPr>
          <a:xfrm>
            <a:off x="7004304" y="4553712"/>
            <a:ext cx="4645152"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p:txBody>
      </p:sp>
      <p:sp>
        <p:nvSpPr>
          <p:cNvPr id="42" name="Shape 40"/>
          <p:cNvSpPr/>
          <p:nvPr/>
        </p:nvSpPr>
        <p:spPr>
          <a:xfrm rot="10800000">
            <a:off x="9253728" y="5093208"/>
            <a:ext cx="146304" cy="73152"/>
          </a:xfrm>
          <a:prstGeom prst="triangle">
            <a:avLst/>
          </a:prstGeom>
          <a:solidFill>
            <a:srgbClr val="5B6B7C"/>
          </a:solidFill>
          <a:ln/>
        </p:spPr>
        <p:txBody>
          <a:bodyPr/>
          <a:lstStyle/>
          <a:p>
            <a:endParaRPr lang="en-IN"/>
          </a:p>
        </p:txBody>
      </p:sp>
      <p:sp>
        <p:nvSpPr>
          <p:cNvPr id="43" name="Shape 41"/>
          <p:cNvSpPr/>
          <p:nvPr/>
        </p:nvSpPr>
        <p:spPr>
          <a:xfrm>
            <a:off x="6949440" y="5207508"/>
            <a:ext cx="4754880" cy="530352"/>
          </a:xfrm>
          <a:prstGeom prst="roundRect">
            <a:avLst>
              <a:gd name="adj" fmla="val 12069"/>
            </a:avLst>
          </a:prstGeom>
          <a:solidFill>
            <a:srgbClr val="C9821B"/>
          </a:solidFill>
          <a:ln/>
        </p:spPr>
        <p:txBody>
          <a:bodyPr/>
          <a:lstStyle/>
          <a:p>
            <a:endParaRPr lang="en-IN"/>
          </a:p>
        </p:txBody>
      </p:sp>
      <p:sp>
        <p:nvSpPr>
          <p:cNvPr id="44" name="Text 42"/>
          <p:cNvSpPr/>
          <p:nvPr/>
        </p:nvSpPr>
        <p:spPr>
          <a:xfrm>
            <a:off x="7004304" y="5207508"/>
            <a:ext cx="4645152" cy="53035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p>
        </p:txBody>
      </p:sp>
      <p:sp>
        <p:nvSpPr>
          <p:cNvPr id="45" name="Shape 43"/>
          <p:cNvSpPr/>
          <p:nvPr/>
        </p:nvSpPr>
        <p:spPr>
          <a:xfrm>
            <a:off x="457200" y="6053328"/>
            <a:ext cx="11274552" cy="384048"/>
          </a:xfrm>
          <a:prstGeom prst="roundRect">
            <a:avLst>
              <a:gd name="adj" fmla="val 16667"/>
            </a:avLst>
          </a:prstGeom>
          <a:solidFill>
            <a:srgbClr val="D7E6F7"/>
          </a:solidFill>
          <a:ln w="12700">
            <a:solidFill>
              <a:srgbClr val="2F6FB7"/>
            </a:solidFill>
            <a:prstDash val="solid"/>
          </a:ln>
        </p:spPr>
        <p:txBody>
          <a:bodyPr/>
          <a:lstStyle/>
          <a:p>
            <a:endParaRPr lang="en-IN"/>
          </a:p>
        </p:txBody>
      </p:sp>
      <p:sp>
        <p:nvSpPr>
          <p:cNvPr id="46" name="Text 44"/>
          <p:cNvSpPr/>
          <p:nvPr/>
        </p:nvSpPr>
        <p:spPr>
          <a:xfrm>
            <a:off x="621792" y="6053328"/>
            <a:ext cx="10972800" cy="384048"/>
          </a:xfrm>
          <a:prstGeom prst="rect">
            <a:avLst/>
          </a:prstGeom>
          <a:noFill/>
          <a:ln/>
        </p:spPr>
        <p:txBody>
          <a:bodyPr wrap="square" lIns="0" tIns="0" rIns="0" bIns="0" rtlCol="0" anchor="ctr"/>
          <a:lstStyle/>
          <a:p>
            <a:pPr marL="0" indent="0">
              <a:buNone/>
            </a:pPr>
            <a:r>
              <a:rPr lang="en-US" sz="1100" b="1" dirty="0">
                <a:solidFill>
                  <a:srgbClr val="C9821B"/>
                </a:solidFill>
                <a:latin typeface="Calibri" pitchFamily="34" charset="0"/>
                <a:ea typeface="Calibri" pitchFamily="34" charset="-122"/>
                <a:cs typeface="Calibri" pitchFamily="34" charset="-120"/>
              </a:rPr>
              <a:t>KEY TAKEAWAY:  </a:t>
            </a:r>
            <a:r>
              <a:rPr lang="en-US" sz="1100" dirty="0">
                <a:solidFill>
                  <a:srgbClr val="14315E"/>
                </a:solidFill>
                <a:latin typeface="Calibri" pitchFamily="34" charset="0"/>
                <a:ea typeface="Calibri" pitchFamily="34" charset="-122"/>
                <a:cs typeface="Calibri" pitchFamily="34" charset="-120"/>
              </a:rPr>
              <a:t>EmoBench formalizes Machine EI into two testable tasks — Understanding (EU) and Application (EA).</a:t>
            </a:r>
            <a:endParaRPr lang="en-US" sz="1100" dirty="0"/>
          </a:p>
        </p:txBody>
      </p:sp>
      <p:sp>
        <p:nvSpPr>
          <p:cNvPr id="48" name="Text 46"/>
          <p:cNvSpPr/>
          <p:nvPr/>
        </p:nvSpPr>
        <p:spPr>
          <a:xfrm>
            <a:off x="11457432" y="6528816"/>
            <a:ext cx="274320" cy="237744"/>
          </a:xfrm>
          <a:prstGeom prst="rect">
            <a:avLst/>
          </a:prstGeom>
          <a:noFill/>
          <a:ln/>
        </p:spPr>
        <p:txBody>
          <a:bodyPr wrap="square" lIns="0" tIns="0" rIns="0" bIns="0" rtlCol="0" anchor="ctr"/>
          <a:lstStyle/>
          <a:p>
            <a:pPr marL="0" indent="0" algn="r">
              <a:buNone/>
            </a:pPr>
            <a:r>
              <a:rPr lang="en-US" sz="850" dirty="0">
                <a:solidFill>
                  <a:srgbClr val="5B6B7C"/>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marL="0" indent="0">
              <a:buNone/>
            </a:pPr>
            <a:r>
              <a:rPr lang="en-US" sz="2500" b="1" dirty="0">
                <a:solidFill>
                  <a:srgbClr val="14315E"/>
                </a:solidFill>
                <a:latin typeface="Cambria" pitchFamily="34" charset="0"/>
                <a:ea typeface="Cambria" pitchFamily="34" charset="-122"/>
                <a:cs typeface="Cambria" pitchFamily="34" charset="-120"/>
              </a:rPr>
              <a:t>Dataset &amp; Benchmark Design</a:t>
            </a:r>
            <a:endParaRPr lang="en-US" sz="2500" dirty="0"/>
          </a:p>
        </p:txBody>
      </p:sp>
      <p:sp>
        <p:nvSpPr>
          <p:cNvPr id="3" name="Text 1"/>
          <p:cNvSpPr/>
          <p:nvPr/>
        </p:nvSpPr>
        <p:spPr>
          <a:xfrm>
            <a:off x="475488" y="777240"/>
            <a:ext cx="11247120" cy="292608"/>
          </a:xfrm>
          <a:prstGeom prst="rect">
            <a:avLst/>
          </a:prstGeom>
          <a:noFill/>
          <a:ln/>
        </p:spPr>
        <p:txBody>
          <a:bodyPr wrap="square" lIns="0" tIns="0" rIns="0" bIns="0" rtlCol="0" anchor="ctr"/>
          <a:lstStyle/>
          <a:p>
            <a:pPr marL="0" indent="0">
              <a:buNone/>
            </a:pPr>
            <a:r>
              <a:rPr lang="en-US" sz="1150" i="1" dirty="0">
                <a:solidFill>
                  <a:srgbClr val="5B6B7C"/>
                </a:solidFill>
                <a:latin typeface="Calibri" pitchFamily="34" charset="0"/>
                <a:ea typeface="Calibri" pitchFamily="34" charset="-122"/>
                <a:cs typeface="Calibri" pitchFamily="34" charset="-120"/>
              </a:rPr>
              <a:t>Emotional Understanding taxonomy — four main categories (Figures 3 &amp; 4, paper)</a:t>
            </a:r>
            <a:endParaRPr lang="en-US" sz="1150" dirty="0"/>
          </a:p>
        </p:txBody>
      </p:sp>
      <p:sp>
        <p:nvSpPr>
          <p:cNvPr id="4" name="Shape 2"/>
          <p:cNvSpPr/>
          <p:nvPr/>
        </p:nvSpPr>
        <p:spPr>
          <a:xfrm>
            <a:off x="475488" y="1133856"/>
            <a:ext cx="1828800" cy="310896"/>
          </a:xfrm>
          <a:prstGeom prst="roundRect">
            <a:avLst>
              <a:gd name="adj" fmla="val 17647"/>
            </a:avLst>
          </a:prstGeom>
          <a:solidFill>
            <a:srgbClr val="2F6FB7"/>
          </a:solidFill>
          <a:ln/>
        </p:spPr>
        <p:txBody>
          <a:bodyPr/>
          <a:lstStyle/>
          <a:p>
            <a:endParaRPr lang="en-IN"/>
          </a:p>
        </p:txBody>
      </p:sp>
      <p:sp>
        <p:nvSpPr>
          <p:cNvPr id="5" name="Text 3"/>
          <p:cNvSpPr/>
          <p:nvPr/>
        </p:nvSpPr>
        <p:spPr>
          <a:xfrm>
            <a:off x="475488" y="1133856"/>
            <a:ext cx="182880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RESEARCH PAPER</a:t>
            </a:r>
            <a:endParaRPr lang="en-US" sz="1050" dirty="0"/>
          </a:p>
        </p:txBody>
      </p:sp>
      <p:sp>
        <p:nvSpPr>
          <p:cNvPr id="6" name="Shape 4"/>
          <p:cNvSpPr/>
          <p:nvPr/>
        </p:nvSpPr>
        <p:spPr>
          <a:xfrm>
            <a:off x="502920" y="1572768"/>
            <a:ext cx="2670048" cy="530352"/>
          </a:xfrm>
          <a:prstGeom prst="roundRect">
            <a:avLst>
              <a:gd name="adj" fmla="val 12069"/>
            </a:avLst>
          </a:prstGeom>
          <a:solidFill>
            <a:srgbClr val="14315E"/>
          </a:solidFill>
          <a:ln/>
        </p:spPr>
        <p:txBody>
          <a:bodyPr/>
          <a:lstStyle/>
          <a:p>
            <a:endParaRPr lang="en-IN"/>
          </a:p>
        </p:txBody>
      </p:sp>
      <p:sp>
        <p:nvSpPr>
          <p:cNvPr id="7" name="Text 5"/>
          <p:cNvSpPr/>
          <p:nvPr/>
        </p:nvSpPr>
        <p:spPr>
          <a:xfrm>
            <a:off x="576072" y="1572768"/>
            <a:ext cx="2523744" cy="530352"/>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mbria" pitchFamily="34" charset="0"/>
                <a:ea typeface="Cambria" pitchFamily="34" charset="-122"/>
                <a:cs typeface="Cambria" pitchFamily="34" charset="-120"/>
              </a:rPr>
              <a:t>Complex Emotions</a:t>
            </a:r>
            <a:endParaRPr lang="en-US" sz="1250" dirty="0"/>
          </a:p>
        </p:txBody>
      </p:sp>
      <p:sp>
        <p:nvSpPr>
          <p:cNvPr id="8" name="Shape 6"/>
          <p:cNvSpPr/>
          <p:nvPr/>
        </p:nvSpPr>
        <p:spPr>
          <a:xfrm>
            <a:off x="502920" y="2194560"/>
            <a:ext cx="2670048" cy="2441448"/>
          </a:xfrm>
          <a:prstGeom prst="roundRect">
            <a:avLst>
              <a:gd name="adj" fmla="val 2622"/>
            </a:avLst>
          </a:prstGeom>
          <a:solidFill>
            <a:srgbClr val="EAF1FB"/>
          </a:solidFill>
          <a:ln w="12700">
            <a:solidFill>
              <a:srgbClr val="C7D4E3"/>
            </a:solidFill>
            <a:prstDash val="solid"/>
          </a:ln>
        </p:spPr>
        <p:txBody>
          <a:bodyPr/>
          <a:lstStyle/>
          <a:p>
            <a:endParaRPr lang="en-IN"/>
          </a:p>
        </p:txBody>
      </p:sp>
      <p:sp>
        <p:nvSpPr>
          <p:cNvPr id="9" name="Shape 7"/>
          <p:cNvSpPr/>
          <p:nvPr/>
        </p:nvSpPr>
        <p:spPr>
          <a:xfrm>
            <a:off x="704088" y="2459736"/>
            <a:ext cx="73152" cy="73152"/>
          </a:xfrm>
          <a:prstGeom prst="ellipse">
            <a:avLst/>
          </a:prstGeom>
          <a:solidFill>
            <a:srgbClr val="14315E"/>
          </a:solidFill>
          <a:ln/>
        </p:spPr>
        <p:txBody>
          <a:bodyPr/>
          <a:lstStyle/>
          <a:p>
            <a:endParaRPr lang="en-IN"/>
          </a:p>
        </p:txBody>
      </p:sp>
      <p:sp>
        <p:nvSpPr>
          <p:cNvPr id="10" name="Text 8"/>
          <p:cNvSpPr/>
          <p:nvPr/>
        </p:nvSpPr>
        <p:spPr>
          <a:xfrm>
            <a:off x="868680" y="2340864"/>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Emotion Transition</a:t>
            </a:r>
            <a:endParaRPr lang="en-US" sz="1100" dirty="0"/>
          </a:p>
        </p:txBody>
      </p:sp>
      <p:sp>
        <p:nvSpPr>
          <p:cNvPr id="11" name="Shape 9"/>
          <p:cNvSpPr/>
          <p:nvPr/>
        </p:nvSpPr>
        <p:spPr>
          <a:xfrm>
            <a:off x="704088" y="2971800"/>
            <a:ext cx="73152" cy="73152"/>
          </a:xfrm>
          <a:prstGeom prst="ellipse">
            <a:avLst/>
          </a:prstGeom>
          <a:solidFill>
            <a:srgbClr val="14315E"/>
          </a:solidFill>
          <a:ln/>
        </p:spPr>
        <p:txBody>
          <a:bodyPr/>
          <a:lstStyle/>
          <a:p>
            <a:endParaRPr lang="en-IN"/>
          </a:p>
        </p:txBody>
      </p:sp>
      <p:sp>
        <p:nvSpPr>
          <p:cNvPr id="12" name="Text 10"/>
          <p:cNvSpPr/>
          <p:nvPr/>
        </p:nvSpPr>
        <p:spPr>
          <a:xfrm>
            <a:off x="868680" y="2852928"/>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Mixture of Emotions</a:t>
            </a:r>
            <a:endParaRPr lang="en-US" sz="1100" dirty="0"/>
          </a:p>
        </p:txBody>
      </p:sp>
      <p:sp>
        <p:nvSpPr>
          <p:cNvPr id="13" name="Shape 11"/>
          <p:cNvSpPr/>
          <p:nvPr/>
        </p:nvSpPr>
        <p:spPr>
          <a:xfrm>
            <a:off x="704088" y="3483864"/>
            <a:ext cx="73152" cy="73152"/>
          </a:xfrm>
          <a:prstGeom prst="ellipse">
            <a:avLst/>
          </a:prstGeom>
          <a:solidFill>
            <a:srgbClr val="14315E"/>
          </a:solidFill>
          <a:ln/>
        </p:spPr>
        <p:txBody>
          <a:bodyPr/>
          <a:lstStyle/>
          <a:p>
            <a:endParaRPr lang="en-IN"/>
          </a:p>
        </p:txBody>
      </p:sp>
      <p:sp>
        <p:nvSpPr>
          <p:cNvPr id="14" name="Text 12"/>
          <p:cNvSpPr/>
          <p:nvPr/>
        </p:nvSpPr>
        <p:spPr>
          <a:xfrm>
            <a:off x="868680" y="3364992"/>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Unexpected Outcome</a:t>
            </a:r>
            <a:endParaRPr lang="en-US" sz="1100" dirty="0"/>
          </a:p>
        </p:txBody>
      </p:sp>
      <p:sp>
        <p:nvSpPr>
          <p:cNvPr id="15" name="Shape 13"/>
          <p:cNvSpPr/>
          <p:nvPr/>
        </p:nvSpPr>
        <p:spPr>
          <a:xfrm>
            <a:off x="3319272" y="1572768"/>
            <a:ext cx="2670048" cy="530352"/>
          </a:xfrm>
          <a:prstGeom prst="roundRect">
            <a:avLst>
              <a:gd name="adj" fmla="val 12069"/>
            </a:avLst>
          </a:prstGeom>
          <a:solidFill>
            <a:srgbClr val="2F6FB7"/>
          </a:solidFill>
          <a:ln/>
        </p:spPr>
        <p:txBody>
          <a:bodyPr/>
          <a:lstStyle/>
          <a:p>
            <a:endParaRPr lang="en-IN"/>
          </a:p>
        </p:txBody>
      </p:sp>
      <p:sp>
        <p:nvSpPr>
          <p:cNvPr id="16" name="Text 14"/>
          <p:cNvSpPr/>
          <p:nvPr/>
        </p:nvSpPr>
        <p:spPr>
          <a:xfrm>
            <a:off x="3392424" y="1572768"/>
            <a:ext cx="2523744" cy="530352"/>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mbria" pitchFamily="34" charset="0"/>
                <a:ea typeface="Cambria" pitchFamily="34" charset="-122"/>
                <a:cs typeface="Cambria" pitchFamily="34" charset="-120"/>
              </a:rPr>
              <a:t>Personal Beliefs &amp; Experiences</a:t>
            </a:r>
            <a:endParaRPr lang="en-US" sz="1250" dirty="0"/>
          </a:p>
        </p:txBody>
      </p:sp>
      <p:sp>
        <p:nvSpPr>
          <p:cNvPr id="17" name="Shape 15"/>
          <p:cNvSpPr/>
          <p:nvPr/>
        </p:nvSpPr>
        <p:spPr>
          <a:xfrm>
            <a:off x="3319272" y="2194560"/>
            <a:ext cx="2670048" cy="2441448"/>
          </a:xfrm>
          <a:prstGeom prst="roundRect">
            <a:avLst>
              <a:gd name="adj" fmla="val 2622"/>
            </a:avLst>
          </a:prstGeom>
          <a:solidFill>
            <a:srgbClr val="EAF1FB"/>
          </a:solidFill>
          <a:ln w="12700">
            <a:solidFill>
              <a:srgbClr val="C7D4E3"/>
            </a:solidFill>
            <a:prstDash val="solid"/>
          </a:ln>
        </p:spPr>
        <p:txBody>
          <a:bodyPr/>
          <a:lstStyle/>
          <a:p>
            <a:endParaRPr lang="en-IN"/>
          </a:p>
        </p:txBody>
      </p:sp>
      <p:sp>
        <p:nvSpPr>
          <p:cNvPr id="18" name="Shape 16"/>
          <p:cNvSpPr/>
          <p:nvPr/>
        </p:nvSpPr>
        <p:spPr>
          <a:xfrm>
            <a:off x="3520440" y="2459736"/>
            <a:ext cx="73152" cy="73152"/>
          </a:xfrm>
          <a:prstGeom prst="ellipse">
            <a:avLst/>
          </a:prstGeom>
          <a:solidFill>
            <a:srgbClr val="2F6FB7"/>
          </a:solidFill>
          <a:ln/>
        </p:spPr>
        <p:txBody>
          <a:bodyPr/>
          <a:lstStyle/>
          <a:p>
            <a:endParaRPr lang="en-IN"/>
          </a:p>
        </p:txBody>
      </p:sp>
      <p:sp>
        <p:nvSpPr>
          <p:cNvPr id="19" name="Text 17"/>
          <p:cNvSpPr/>
          <p:nvPr/>
        </p:nvSpPr>
        <p:spPr>
          <a:xfrm>
            <a:off x="3685032" y="2340864"/>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Cultural Value</a:t>
            </a:r>
            <a:endParaRPr lang="en-US" sz="1100" dirty="0"/>
          </a:p>
        </p:txBody>
      </p:sp>
      <p:sp>
        <p:nvSpPr>
          <p:cNvPr id="20" name="Shape 18"/>
          <p:cNvSpPr/>
          <p:nvPr/>
        </p:nvSpPr>
        <p:spPr>
          <a:xfrm>
            <a:off x="3520440" y="2971800"/>
            <a:ext cx="73152" cy="73152"/>
          </a:xfrm>
          <a:prstGeom prst="ellipse">
            <a:avLst/>
          </a:prstGeom>
          <a:solidFill>
            <a:srgbClr val="2F6FB7"/>
          </a:solidFill>
          <a:ln/>
        </p:spPr>
        <p:txBody>
          <a:bodyPr/>
          <a:lstStyle/>
          <a:p>
            <a:endParaRPr lang="en-IN"/>
          </a:p>
        </p:txBody>
      </p:sp>
      <p:sp>
        <p:nvSpPr>
          <p:cNvPr id="21" name="Text 19"/>
          <p:cNvSpPr/>
          <p:nvPr/>
        </p:nvSpPr>
        <p:spPr>
          <a:xfrm>
            <a:off x="3685032" y="2852928"/>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Sentimental Value</a:t>
            </a:r>
            <a:endParaRPr lang="en-US" sz="1100" dirty="0"/>
          </a:p>
        </p:txBody>
      </p:sp>
      <p:sp>
        <p:nvSpPr>
          <p:cNvPr id="22" name="Shape 20"/>
          <p:cNvSpPr/>
          <p:nvPr/>
        </p:nvSpPr>
        <p:spPr>
          <a:xfrm>
            <a:off x="3520440" y="3483864"/>
            <a:ext cx="73152" cy="73152"/>
          </a:xfrm>
          <a:prstGeom prst="ellipse">
            <a:avLst/>
          </a:prstGeom>
          <a:solidFill>
            <a:srgbClr val="2F6FB7"/>
          </a:solidFill>
          <a:ln/>
        </p:spPr>
        <p:txBody>
          <a:bodyPr/>
          <a:lstStyle/>
          <a:p>
            <a:endParaRPr lang="en-IN"/>
          </a:p>
        </p:txBody>
      </p:sp>
      <p:sp>
        <p:nvSpPr>
          <p:cNvPr id="23" name="Text 21"/>
          <p:cNvSpPr/>
          <p:nvPr/>
        </p:nvSpPr>
        <p:spPr>
          <a:xfrm>
            <a:off x="3685032" y="3364992"/>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Persona</a:t>
            </a:r>
            <a:endParaRPr lang="en-US" sz="1100" dirty="0"/>
          </a:p>
        </p:txBody>
      </p:sp>
      <p:sp>
        <p:nvSpPr>
          <p:cNvPr id="24" name="Shape 22"/>
          <p:cNvSpPr/>
          <p:nvPr/>
        </p:nvSpPr>
        <p:spPr>
          <a:xfrm>
            <a:off x="6135624" y="1572768"/>
            <a:ext cx="2670048" cy="530352"/>
          </a:xfrm>
          <a:prstGeom prst="roundRect">
            <a:avLst>
              <a:gd name="adj" fmla="val 12069"/>
            </a:avLst>
          </a:prstGeom>
          <a:solidFill>
            <a:srgbClr val="3D7FC9"/>
          </a:solidFill>
          <a:ln/>
        </p:spPr>
        <p:txBody>
          <a:bodyPr/>
          <a:lstStyle/>
          <a:p>
            <a:endParaRPr lang="en-IN"/>
          </a:p>
        </p:txBody>
      </p:sp>
      <p:sp>
        <p:nvSpPr>
          <p:cNvPr id="25" name="Text 23"/>
          <p:cNvSpPr/>
          <p:nvPr/>
        </p:nvSpPr>
        <p:spPr>
          <a:xfrm>
            <a:off x="6208776" y="1572768"/>
            <a:ext cx="2523744" cy="530352"/>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mbria" pitchFamily="34" charset="0"/>
                <a:ea typeface="Cambria" pitchFamily="34" charset="-122"/>
                <a:cs typeface="Cambria" pitchFamily="34" charset="-120"/>
              </a:rPr>
              <a:t>Emotional Cues</a:t>
            </a:r>
            <a:endParaRPr lang="en-US" sz="1250" dirty="0"/>
          </a:p>
        </p:txBody>
      </p:sp>
      <p:sp>
        <p:nvSpPr>
          <p:cNvPr id="26" name="Shape 24"/>
          <p:cNvSpPr/>
          <p:nvPr/>
        </p:nvSpPr>
        <p:spPr>
          <a:xfrm>
            <a:off x="6135624" y="2194560"/>
            <a:ext cx="2670048" cy="2441448"/>
          </a:xfrm>
          <a:prstGeom prst="roundRect">
            <a:avLst>
              <a:gd name="adj" fmla="val 2622"/>
            </a:avLst>
          </a:prstGeom>
          <a:solidFill>
            <a:srgbClr val="EAF1FB"/>
          </a:solidFill>
          <a:ln w="12700">
            <a:solidFill>
              <a:srgbClr val="C7D4E3"/>
            </a:solidFill>
            <a:prstDash val="solid"/>
          </a:ln>
        </p:spPr>
        <p:txBody>
          <a:bodyPr/>
          <a:lstStyle/>
          <a:p>
            <a:endParaRPr lang="en-IN"/>
          </a:p>
        </p:txBody>
      </p:sp>
      <p:sp>
        <p:nvSpPr>
          <p:cNvPr id="27" name="Shape 25"/>
          <p:cNvSpPr/>
          <p:nvPr/>
        </p:nvSpPr>
        <p:spPr>
          <a:xfrm>
            <a:off x="6336792" y="2459736"/>
            <a:ext cx="73152" cy="73152"/>
          </a:xfrm>
          <a:prstGeom prst="ellipse">
            <a:avLst/>
          </a:prstGeom>
          <a:solidFill>
            <a:srgbClr val="3D7FC9"/>
          </a:solidFill>
          <a:ln/>
        </p:spPr>
        <p:txBody>
          <a:bodyPr/>
          <a:lstStyle/>
          <a:p>
            <a:endParaRPr lang="en-IN"/>
          </a:p>
        </p:txBody>
      </p:sp>
      <p:sp>
        <p:nvSpPr>
          <p:cNvPr id="28" name="Text 26"/>
          <p:cNvSpPr/>
          <p:nvPr/>
        </p:nvSpPr>
        <p:spPr>
          <a:xfrm>
            <a:off x="6501384" y="2340864"/>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Vocal Cues</a:t>
            </a:r>
            <a:endParaRPr lang="en-US" sz="1100" dirty="0"/>
          </a:p>
        </p:txBody>
      </p:sp>
      <p:sp>
        <p:nvSpPr>
          <p:cNvPr id="29" name="Shape 27"/>
          <p:cNvSpPr/>
          <p:nvPr/>
        </p:nvSpPr>
        <p:spPr>
          <a:xfrm>
            <a:off x="6336792" y="2971800"/>
            <a:ext cx="73152" cy="73152"/>
          </a:xfrm>
          <a:prstGeom prst="ellipse">
            <a:avLst/>
          </a:prstGeom>
          <a:solidFill>
            <a:srgbClr val="3D7FC9"/>
          </a:solidFill>
          <a:ln/>
        </p:spPr>
        <p:txBody>
          <a:bodyPr/>
          <a:lstStyle/>
          <a:p>
            <a:endParaRPr lang="en-IN"/>
          </a:p>
        </p:txBody>
      </p:sp>
      <p:sp>
        <p:nvSpPr>
          <p:cNvPr id="30" name="Text 28"/>
          <p:cNvSpPr/>
          <p:nvPr/>
        </p:nvSpPr>
        <p:spPr>
          <a:xfrm>
            <a:off x="6501384" y="2852928"/>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Visual Cues</a:t>
            </a:r>
            <a:endParaRPr lang="en-US" sz="1100" dirty="0"/>
          </a:p>
        </p:txBody>
      </p:sp>
      <p:sp>
        <p:nvSpPr>
          <p:cNvPr id="31" name="Shape 29"/>
          <p:cNvSpPr/>
          <p:nvPr/>
        </p:nvSpPr>
        <p:spPr>
          <a:xfrm>
            <a:off x="8951976" y="1572768"/>
            <a:ext cx="2670048" cy="530352"/>
          </a:xfrm>
          <a:prstGeom prst="roundRect">
            <a:avLst>
              <a:gd name="adj" fmla="val 12069"/>
            </a:avLst>
          </a:prstGeom>
          <a:solidFill>
            <a:srgbClr val="C9821B"/>
          </a:solidFill>
          <a:ln/>
        </p:spPr>
        <p:txBody>
          <a:bodyPr/>
          <a:lstStyle/>
          <a:p>
            <a:endParaRPr lang="en-IN"/>
          </a:p>
        </p:txBody>
      </p:sp>
      <p:sp>
        <p:nvSpPr>
          <p:cNvPr id="32" name="Text 30"/>
          <p:cNvSpPr/>
          <p:nvPr/>
        </p:nvSpPr>
        <p:spPr>
          <a:xfrm>
            <a:off x="9025128" y="1572768"/>
            <a:ext cx="2523744" cy="530352"/>
          </a:xfrm>
          <a:prstGeom prst="rect">
            <a:avLst/>
          </a:prstGeom>
          <a:noFill/>
          <a:ln/>
        </p:spPr>
        <p:txBody>
          <a:bodyPr wrap="square" lIns="0" tIns="0" rIns="0" bIns="0" rtlCol="0" anchor="ctr"/>
          <a:lstStyle/>
          <a:p>
            <a:pPr marL="0" indent="0" algn="ctr">
              <a:lnSpc>
                <a:spcPct val="95000"/>
              </a:lnSpc>
              <a:buNone/>
            </a:pPr>
            <a:r>
              <a:rPr lang="en-US" sz="1250" b="1" dirty="0">
                <a:solidFill>
                  <a:srgbClr val="FFFFFF"/>
                </a:solidFill>
                <a:latin typeface="Cambria" pitchFamily="34" charset="0"/>
                <a:ea typeface="Cambria" pitchFamily="34" charset="-122"/>
                <a:cs typeface="Cambria" pitchFamily="34" charset="-120"/>
              </a:rPr>
              <a:t>Perspective Taking</a:t>
            </a:r>
            <a:endParaRPr lang="en-US" sz="1250" dirty="0"/>
          </a:p>
        </p:txBody>
      </p:sp>
      <p:sp>
        <p:nvSpPr>
          <p:cNvPr id="33" name="Shape 31"/>
          <p:cNvSpPr/>
          <p:nvPr/>
        </p:nvSpPr>
        <p:spPr>
          <a:xfrm>
            <a:off x="8951976" y="2194560"/>
            <a:ext cx="2670048" cy="2441448"/>
          </a:xfrm>
          <a:prstGeom prst="roundRect">
            <a:avLst>
              <a:gd name="adj" fmla="val 2622"/>
            </a:avLst>
          </a:prstGeom>
          <a:solidFill>
            <a:srgbClr val="EAF1FB"/>
          </a:solidFill>
          <a:ln w="12700">
            <a:solidFill>
              <a:srgbClr val="C7D4E3"/>
            </a:solidFill>
            <a:prstDash val="solid"/>
          </a:ln>
        </p:spPr>
        <p:txBody>
          <a:bodyPr/>
          <a:lstStyle/>
          <a:p>
            <a:endParaRPr lang="en-IN"/>
          </a:p>
        </p:txBody>
      </p:sp>
      <p:sp>
        <p:nvSpPr>
          <p:cNvPr id="34" name="Shape 32"/>
          <p:cNvSpPr/>
          <p:nvPr/>
        </p:nvSpPr>
        <p:spPr>
          <a:xfrm>
            <a:off x="9153144" y="2459736"/>
            <a:ext cx="73152" cy="73152"/>
          </a:xfrm>
          <a:prstGeom prst="ellipse">
            <a:avLst/>
          </a:prstGeom>
          <a:solidFill>
            <a:srgbClr val="C9821B"/>
          </a:solidFill>
          <a:ln/>
        </p:spPr>
        <p:txBody>
          <a:bodyPr/>
          <a:lstStyle/>
          <a:p>
            <a:endParaRPr lang="en-IN"/>
          </a:p>
        </p:txBody>
      </p:sp>
      <p:sp>
        <p:nvSpPr>
          <p:cNvPr id="35" name="Text 33"/>
          <p:cNvSpPr/>
          <p:nvPr/>
        </p:nvSpPr>
        <p:spPr>
          <a:xfrm>
            <a:off x="9317736" y="2340864"/>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Faux Pas</a:t>
            </a:r>
            <a:endParaRPr lang="en-US" sz="1100" dirty="0"/>
          </a:p>
        </p:txBody>
      </p:sp>
      <p:sp>
        <p:nvSpPr>
          <p:cNvPr id="36" name="Shape 34"/>
          <p:cNvSpPr/>
          <p:nvPr/>
        </p:nvSpPr>
        <p:spPr>
          <a:xfrm>
            <a:off x="9153144" y="2971800"/>
            <a:ext cx="73152" cy="73152"/>
          </a:xfrm>
          <a:prstGeom prst="ellipse">
            <a:avLst/>
          </a:prstGeom>
          <a:solidFill>
            <a:srgbClr val="C9821B"/>
          </a:solidFill>
          <a:ln/>
        </p:spPr>
        <p:txBody>
          <a:bodyPr/>
          <a:lstStyle/>
          <a:p>
            <a:endParaRPr lang="en-IN"/>
          </a:p>
        </p:txBody>
      </p:sp>
      <p:sp>
        <p:nvSpPr>
          <p:cNvPr id="37" name="Text 35"/>
          <p:cNvSpPr/>
          <p:nvPr/>
        </p:nvSpPr>
        <p:spPr>
          <a:xfrm>
            <a:off x="9317736" y="2852928"/>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Strange Story</a:t>
            </a:r>
            <a:endParaRPr lang="en-US" sz="1100" dirty="0"/>
          </a:p>
        </p:txBody>
      </p:sp>
      <p:sp>
        <p:nvSpPr>
          <p:cNvPr id="38" name="Shape 36"/>
          <p:cNvSpPr/>
          <p:nvPr/>
        </p:nvSpPr>
        <p:spPr>
          <a:xfrm>
            <a:off x="9153144" y="3483864"/>
            <a:ext cx="73152" cy="73152"/>
          </a:xfrm>
          <a:prstGeom prst="ellipse">
            <a:avLst/>
          </a:prstGeom>
          <a:solidFill>
            <a:srgbClr val="C9821B"/>
          </a:solidFill>
          <a:ln/>
        </p:spPr>
        <p:txBody>
          <a:bodyPr/>
          <a:lstStyle/>
          <a:p>
            <a:endParaRPr lang="en-IN"/>
          </a:p>
        </p:txBody>
      </p:sp>
      <p:sp>
        <p:nvSpPr>
          <p:cNvPr id="39" name="Text 37"/>
          <p:cNvSpPr/>
          <p:nvPr/>
        </p:nvSpPr>
        <p:spPr>
          <a:xfrm>
            <a:off x="9317736" y="3364992"/>
            <a:ext cx="2167128" cy="411480"/>
          </a:xfrm>
          <a:prstGeom prst="rect">
            <a:avLst/>
          </a:prstGeom>
          <a:noFill/>
          <a:ln/>
        </p:spPr>
        <p:txBody>
          <a:bodyPr wrap="square" lIns="0" tIns="0" rIns="0" bIns="0" rtlCol="0" anchor="ctr"/>
          <a:lstStyle/>
          <a:p>
            <a:pPr marL="0" indent="0">
              <a:buNone/>
            </a:pPr>
            <a:r>
              <a:rPr lang="en-US" sz="1100" dirty="0">
                <a:solidFill>
                  <a:srgbClr val="1B2430"/>
                </a:solidFill>
                <a:latin typeface="Calibri" pitchFamily="34" charset="0"/>
                <a:ea typeface="Calibri" pitchFamily="34" charset="-122"/>
                <a:cs typeface="Calibri" pitchFamily="34" charset="-120"/>
              </a:rPr>
              <a:t>False Belief</a:t>
            </a:r>
            <a:endParaRPr lang="en-US" sz="1100" dirty="0"/>
          </a:p>
        </p:txBody>
      </p:sp>
      <p:sp>
        <p:nvSpPr>
          <p:cNvPr id="40" name="Shape 38"/>
          <p:cNvSpPr/>
          <p:nvPr/>
        </p:nvSpPr>
        <p:spPr>
          <a:xfrm>
            <a:off x="502920" y="4828032"/>
            <a:ext cx="11183112" cy="1051560"/>
          </a:xfrm>
          <a:prstGeom prst="roundRect">
            <a:avLst>
              <a:gd name="adj" fmla="val 6957"/>
            </a:avLst>
          </a:prstGeom>
          <a:solidFill>
            <a:srgbClr val="14315E"/>
          </a:solidFill>
          <a:ln/>
        </p:spPr>
        <p:txBody>
          <a:bodyPr/>
          <a:lstStyle/>
          <a:p>
            <a:endParaRPr lang="en-IN"/>
          </a:p>
        </p:txBody>
      </p:sp>
      <p:sp>
        <p:nvSpPr>
          <p:cNvPr id="41" name="Text 39"/>
          <p:cNvSpPr/>
          <p:nvPr/>
        </p:nvSpPr>
        <p:spPr>
          <a:xfrm>
            <a:off x="777240" y="4901184"/>
            <a:ext cx="10607040" cy="4114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121 scenarios (1–3 individuals)  →  200 Emotional Understanding MCQs + 200 Emotional Application MCQs = 400 total</a:t>
            </a:r>
            <a:endParaRPr lang="en-US" sz="1250" dirty="0"/>
          </a:p>
        </p:txBody>
      </p:sp>
      <p:sp>
        <p:nvSpPr>
          <p:cNvPr id="42" name="Text 40"/>
          <p:cNvSpPr/>
          <p:nvPr/>
        </p:nvSpPr>
        <p:spPr>
          <a:xfrm>
            <a:off x="777240" y="5321808"/>
            <a:ext cx="10607040" cy="457200"/>
          </a:xfrm>
          <a:prstGeom prst="rect">
            <a:avLst/>
          </a:prstGeom>
          <a:noFill/>
          <a:ln/>
        </p:spPr>
        <p:txBody>
          <a:bodyPr wrap="square" lIns="0" tIns="0" rIns="0" bIns="0" rtlCol="0" anchor="ctr"/>
          <a:lstStyle/>
          <a:p>
            <a:pPr marL="0" indent="0">
              <a:buNone/>
            </a:pPr>
            <a:r>
              <a:rPr lang="en-US" sz="1050" i="1" dirty="0">
                <a:solidFill>
                  <a:srgbClr val="EAF1FB"/>
                </a:solidFill>
                <a:latin typeface="Calibri" pitchFamily="34" charset="0"/>
                <a:ea typeface="Calibri" pitchFamily="34" charset="-122"/>
                <a:cs typeface="Calibri" pitchFamily="34" charset="-120"/>
              </a:rPr>
              <a:t>EmoBench evaluates implication and reasoning — not surface-level pattern matching — going beyond simple emotion recognition.</a:t>
            </a:r>
            <a:endParaRPr lang="en-US" sz="1050" dirty="0"/>
          </a:p>
        </p:txBody>
      </p:sp>
      <p:sp>
        <p:nvSpPr>
          <p:cNvPr id="43" name="Shape 41"/>
          <p:cNvSpPr/>
          <p:nvPr/>
        </p:nvSpPr>
        <p:spPr>
          <a:xfrm>
            <a:off x="457200" y="6053328"/>
            <a:ext cx="11274552" cy="384048"/>
          </a:xfrm>
          <a:prstGeom prst="roundRect">
            <a:avLst>
              <a:gd name="adj" fmla="val 16667"/>
            </a:avLst>
          </a:prstGeom>
          <a:solidFill>
            <a:srgbClr val="D7E6F7"/>
          </a:solidFill>
          <a:ln w="12700">
            <a:solidFill>
              <a:srgbClr val="2F6FB7"/>
            </a:solidFill>
            <a:prstDash val="solid"/>
          </a:ln>
        </p:spPr>
        <p:txBody>
          <a:bodyPr/>
          <a:lstStyle/>
          <a:p>
            <a:endParaRPr lang="en-IN"/>
          </a:p>
        </p:txBody>
      </p:sp>
      <p:sp>
        <p:nvSpPr>
          <p:cNvPr id="44" name="Text 42"/>
          <p:cNvSpPr/>
          <p:nvPr/>
        </p:nvSpPr>
        <p:spPr>
          <a:xfrm>
            <a:off x="621792" y="6053328"/>
            <a:ext cx="10972800" cy="384048"/>
          </a:xfrm>
          <a:prstGeom prst="rect">
            <a:avLst/>
          </a:prstGeom>
          <a:noFill/>
          <a:ln/>
        </p:spPr>
        <p:txBody>
          <a:bodyPr wrap="square" lIns="0" tIns="0" rIns="0" bIns="0" rtlCol="0" anchor="ctr"/>
          <a:lstStyle/>
          <a:p>
            <a:pPr marL="0" indent="0">
              <a:buNone/>
            </a:pPr>
            <a:r>
              <a:rPr lang="en-US" sz="1100" b="1" dirty="0">
                <a:solidFill>
                  <a:srgbClr val="C9821B"/>
                </a:solidFill>
                <a:latin typeface="Calibri" pitchFamily="34" charset="0"/>
                <a:ea typeface="Calibri" pitchFamily="34" charset="-122"/>
                <a:cs typeface="Calibri" pitchFamily="34" charset="-120"/>
              </a:rPr>
              <a:t>KEY TAKEAWAY:  </a:t>
            </a:r>
            <a:r>
              <a:rPr lang="en-US" sz="1100" dirty="0">
                <a:solidFill>
                  <a:srgbClr val="14315E"/>
                </a:solidFill>
                <a:latin typeface="Calibri" pitchFamily="34" charset="0"/>
                <a:ea typeface="Calibri" pitchFamily="34" charset="-122"/>
                <a:cs typeface="Calibri" pitchFamily="34" charset="-120"/>
              </a:rPr>
              <a:t>Each EU category (CE, PBE, EC, PT) probes a distinct reasoning skill beyond pattern-based recognition.</a:t>
            </a:r>
            <a:endParaRPr lang="en-US" sz="1100" dirty="0"/>
          </a:p>
        </p:txBody>
      </p:sp>
      <p:sp>
        <p:nvSpPr>
          <p:cNvPr id="46" name="Text 44"/>
          <p:cNvSpPr/>
          <p:nvPr/>
        </p:nvSpPr>
        <p:spPr>
          <a:xfrm>
            <a:off x="11457432" y="6528816"/>
            <a:ext cx="274320" cy="237744"/>
          </a:xfrm>
          <a:prstGeom prst="rect">
            <a:avLst/>
          </a:prstGeom>
          <a:noFill/>
          <a:ln/>
        </p:spPr>
        <p:txBody>
          <a:bodyPr wrap="square" lIns="0" tIns="0" rIns="0" bIns="0" rtlCol="0" anchor="ctr"/>
          <a:lstStyle/>
          <a:p>
            <a:pPr marL="0" indent="0" algn="r">
              <a:buNone/>
            </a:pPr>
            <a:r>
              <a:rPr lang="en-US" sz="850" dirty="0">
                <a:solidFill>
                  <a:srgbClr val="5B6B7C"/>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marL="0" indent="0">
              <a:buNone/>
            </a:pPr>
            <a:r>
              <a:rPr lang="en-US" sz="2500" b="1" dirty="0">
                <a:solidFill>
                  <a:srgbClr val="14315E"/>
                </a:solidFill>
                <a:latin typeface="Cambria" pitchFamily="34" charset="0"/>
                <a:ea typeface="Cambria" pitchFamily="34" charset="-122"/>
                <a:cs typeface="Cambria" pitchFamily="34" charset="-120"/>
              </a:rPr>
              <a:t>Repository Implementation &amp; Evaluation Pipeline</a:t>
            </a:r>
            <a:endParaRPr lang="en-US" sz="2500" dirty="0"/>
          </a:p>
        </p:txBody>
      </p:sp>
      <p:sp>
        <p:nvSpPr>
          <p:cNvPr id="3" name="Text 1"/>
          <p:cNvSpPr/>
          <p:nvPr/>
        </p:nvSpPr>
        <p:spPr>
          <a:xfrm>
            <a:off x="475488" y="777240"/>
            <a:ext cx="11247120" cy="292608"/>
          </a:xfrm>
          <a:prstGeom prst="rect">
            <a:avLst/>
          </a:prstGeom>
          <a:noFill/>
          <a:ln/>
        </p:spPr>
        <p:txBody>
          <a:bodyPr wrap="square" lIns="0" tIns="0" rIns="0" bIns="0" rtlCol="0" anchor="ctr"/>
          <a:lstStyle/>
          <a:p>
            <a:pPr marL="0" indent="0">
              <a:buNone/>
            </a:pPr>
            <a:r>
              <a:rPr lang="en-US" sz="1150" i="1" dirty="0">
                <a:solidFill>
                  <a:srgbClr val="5B6B7C"/>
                </a:solidFill>
                <a:latin typeface="Calibri" pitchFamily="34" charset="0"/>
                <a:ea typeface="Calibri" pitchFamily="34" charset="-122"/>
                <a:cs typeface="Calibri" pitchFamily="34" charset="-120"/>
              </a:rPr>
              <a:t>How we reproduced the EmoBench benchmark end-to-end</a:t>
            </a:r>
            <a:endParaRPr lang="en-US" sz="1150" dirty="0"/>
          </a:p>
        </p:txBody>
      </p:sp>
      <p:sp>
        <p:nvSpPr>
          <p:cNvPr id="4" name="Shape 2"/>
          <p:cNvSpPr/>
          <p:nvPr/>
        </p:nvSpPr>
        <p:spPr>
          <a:xfrm>
            <a:off x="475488" y="1133856"/>
            <a:ext cx="2148840" cy="310896"/>
          </a:xfrm>
          <a:prstGeom prst="roundRect">
            <a:avLst>
              <a:gd name="adj" fmla="val 17647"/>
            </a:avLst>
          </a:prstGeom>
          <a:solidFill>
            <a:srgbClr val="C9821B"/>
          </a:solidFill>
          <a:ln/>
        </p:spPr>
        <p:txBody>
          <a:bodyPr/>
          <a:lstStyle/>
          <a:p>
            <a:endParaRPr lang="en-IN"/>
          </a:p>
        </p:txBody>
      </p:sp>
      <p:sp>
        <p:nvSpPr>
          <p:cNvPr id="5" name="Text 3"/>
          <p:cNvSpPr/>
          <p:nvPr/>
        </p:nvSpPr>
        <p:spPr>
          <a:xfrm>
            <a:off x="475488" y="1133856"/>
            <a:ext cx="214884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OUR IMPLEMENTATION</a:t>
            </a:r>
            <a:endParaRPr lang="en-US" sz="1050" dirty="0"/>
          </a:p>
        </p:txBody>
      </p:sp>
      <p:sp>
        <p:nvSpPr>
          <p:cNvPr id="6" name="Text 4"/>
          <p:cNvSpPr/>
          <p:nvPr/>
        </p:nvSpPr>
        <p:spPr>
          <a:xfrm>
            <a:off x="502920" y="1554480"/>
            <a:ext cx="3246120" cy="274320"/>
          </a:xfrm>
          <a:prstGeom prst="rect">
            <a:avLst/>
          </a:prstGeom>
          <a:noFill/>
          <a:ln/>
        </p:spPr>
        <p:txBody>
          <a:bodyPr wrap="square" lIns="0" tIns="0" rIns="0" bIns="0" rtlCol="0" anchor="ctr"/>
          <a:lstStyle/>
          <a:p>
            <a:pPr marL="0" indent="0">
              <a:buNone/>
            </a:pPr>
            <a:r>
              <a:rPr lang="en-US" sz="1300" b="1" dirty="0">
                <a:solidFill>
                  <a:srgbClr val="14315E"/>
                </a:solidFill>
                <a:latin typeface="Cambria" pitchFamily="34" charset="0"/>
                <a:ea typeface="Cambria" pitchFamily="34" charset="-122"/>
                <a:cs typeface="Cambria" pitchFamily="34" charset="-120"/>
              </a:rPr>
              <a:t>Repository Flow</a:t>
            </a:r>
            <a:endParaRPr lang="en-US" sz="1300" dirty="0"/>
          </a:p>
        </p:txBody>
      </p:sp>
      <p:sp>
        <p:nvSpPr>
          <p:cNvPr id="7" name="Shape 5"/>
          <p:cNvSpPr/>
          <p:nvPr/>
        </p:nvSpPr>
        <p:spPr>
          <a:xfrm>
            <a:off x="502920" y="1865376"/>
            <a:ext cx="3246120" cy="365760"/>
          </a:xfrm>
          <a:prstGeom prst="roundRect">
            <a:avLst>
              <a:gd name="adj" fmla="val 17500"/>
            </a:avLst>
          </a:prstGeom>
          <a:solidFill>
            <a:srgbClr val="14315E"/>
          </a:solidFill>
          <a:ln/>
        </p:spPr>
        <p:txBody>
          <a:bodyPr/>
          <a:lstStyle/>
          <a:p>
            <a:endParaRPr lang="en-IN"/>
          </a:p>
        </p:txBody>
      </p:sp>
      <p:sp>
        <p:nvSpPr>
          <p:cNvPr id="8" name="Text 6"/>
          <p:cNvSpPr/>
          <p:nvPr/>
        </p:nvSpPr>
        <p:spPr>
          <a:xfrm>
            <a:off x="557784" y="1865376"/>
            <a:ext cx="3136392"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Dataset (EU.jsonl)</a:t>
            </a:r>
            <a:endParaRPr lang="en-US" sz="1050" dirty="0"/>
          </a:p>
        </p:txBody>
      </p:sp>
      <p:sp>
        <p:nvSpPr>
          <p:cNvPr id="9" name="Shape 7"/>
          <p:cNvSpPr/>
          <p:nvPr/>
        </p:nvSpPr>
        <p:spPr>
          <a:xfrm rot="10800000">
            <a:off x="2052828" y="2240280"/>
            <a:ext cx="146304" cy="73152"/>
          </a:xfrm>
          <a:prstGeom prst="triangle">
            <a:avLst/>
          </a:prstGeom>
          <a:solidFill>
            <a:srgbClr val="5B6B7C"/>
          </a:solidFill>
          <a:ln/>
        </p:spPr>
        <p:txBody>
          <a:bodyPr/>
          <a:lstStyle/>
          <a:p>
            <a:endParaRPr lang="en-IN"/>
          </a:p>
        </p:txBody>
      </p:sp>
      <p:sp>
        <p:nvSpPr>
          <p:cNvPr id="10" name="Shape 8"/>
          <p:cNvSpPr/>
          <p:nvPr/>
        </p:nvSpPr>
        <p:spPr>
          <a:xfrm>
            <a:off x="502920" y="2304288"/>
            <a:ext cx="3246120" cy="365760"/>
          </a:xfrm>
          <a:prstGeom prst="roundRect">
            <a:avLst>
              <a:gd name="adj" fmla="val 17500"/>
            </a:avLst>
          </a:prstGeom>
          <a:solidFill>
            <a:srgbClr val="2F6FB7"/>
          </a:solidFill>
          <a:ln/>
        </p:spPr>
        <p:txBody>
          <a:bodyPr/>
          <a:lstStyle/>
          <a:p>
            <a:endParaRPr lang="en-IN"/>
          </a:p>
        </p:txBody>
      </p:sp>
      <p:sp>
        <p:nvSpPr>
          <p:cNvPr id="11" name="Text 9"/>
          <p:cNvSpPr/>
          <p:nvPr/>
        </p:nvSpPr>
        <p:spPr>
          <a:xfrm>
            <a:off x="557784" y="2304288"/>
            <a:ext cx="3136392"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main.py</a:t>
            </a:r>
            <a:endParaRPr lang="en-US" sz="1050" dirty="0"/>
          </a:p>
        </p:txBody>
      </p:sp>
      <p:sp>
        <p:nvSpPr>
          <p:cNvPr id="12" name="Shape 10"/>
          <p:cNvSpPr/>
          <p:nvPr/>
        </p:nvSpPr>
        <p:spPr>
          <a:xfrm rot="10800000">
            <a:off x="2052828" y="2679192"/>
            <a:ext cx="146304" cy="73152"/>
          </a:xfrm>
          <a:prstGeom prst="triangle">
            <a:avLst/>
          </a:prstGeom>
          <a:solidFill>
            <a:srgbClr val="5B6B7C"/>
          </a:solidFill>
          <a:ln/>
        </p:spPr>
        <p:txBody>
          <a:bodyPr/>
          <a:lstStyle/>
          <a:p>
            <a:endParaRPr lang="en-IN"/>
          </a:p>
        </p:txBody>
      </p:sp>
      <p:sp>
        <p:nvSpPr>
          <p:cNvPr id="13" name="Shape 11"/>
          <p:cNvSpPr/>
          <p:nvPr/>
        </p:nvSpPr>
        <p:spPr>
          <a:xfrm>
            <a:off x="502920" y="2743200"/>
            <a:ext cx="3246120" cy="365760"/>
          </a:xfrm>
          <a:prstGeom prst="roundRect">
            <a:avLst>
              <a:gd name="adj" fmla="val 17500"/>
            </a:avLst>
          </a:prstGeom>
          <a:solidFill>
            <a:srgbClr val="2F6FB7"/>
          </a:solidFill>
          <a:ln/>
        </p:spPr>
        <p:txBody>
          <a:bodyPr/>
          <a:lstStyle/>
          <a:p>
            <a:endParaRPr lang="en-IN"/>
          </a:p>
        </p:txBody>
      </p:sp>
      <p:sp>
        <p:nvSpPr>
          <p:cNvPr id="14" name="Text 12"/>
          <p:cNvSpPr/>
          <p:nvPr/>
        </p:nvSpPr>
        <p:spPr>
          <a:xfrm>
            <a:off x="557784" y="2743200"/>
            <a:ext cx="3136392"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data.py</a:t>
            </a:r>
            <a:endParaRPr lang="en-US" sz="1050" dirty="0"/>
          </a:p>
        </p:txBody>
      </p:sp>
      <p:sp>
        <p:nvSpPr>
          <p:cNvPr id="15" name="Shape 13"/>
          <p:cNvSpPr/>
          <p:nvPr/>
        </p:nvSpPr>
        <p:spPr>
          <a:xfrm rot="10800000">
            <a:off x="2052828" y="3118104"/>
            <a:ext cx="146304" cy="73152"/>
          </a:xfrm>
          <a:prstGeom prst="triangle">
            <a:avLst/>
          </a:prstGeom>
          <a:solidFill>
            <a:srgbClr val="5B6B7C"/>
          </a:solidFill>
          <a:ln/>
        </p:spPr>
        <p:txBody>
          <a:bodyPr/>
          <a:lstStyle/>
          <a:p>
            <a:endParaRPr lang="en-IN"/>
          </a:p>
        </p:txBody>
      </p:sp>
      <p:sp>
        <p:nvSpPr>
          <p:cNvPr id="16" name="Shape 14"/>
          <p:cNvSpPr/>
          <p:nvPr/>
        </p:nvSpPr>
        <p:spPr>
          <a:xfrm>
            <a:off x="502920" y="3182112"/>
            <a:ext cx="3246120" cy="365760"/>
          </a:xfrm>
          <a:prstGeom prst="roundRect">
            <a:avLst>
              <a:gd name="adj" fmla="val 17500"/>
            </a:avLst>
          </a:prstGeom>
          <a:solidFill>
            <a:srgbClr val="2F6FB7"/>
          </a:solidFill>
          <a:ln/>
        </p:spPr>
        <p:txBody>
          <a:bodyPr/>
          <a:lstStyle/>
          <a:p>
            <a:endParaRPr lang="en-IN"/>
          </a:p>
        </p:txBody>
      </p:sp>
      <p:sp>
        <p:nvSpPr>
          <p:cNvPr id="17" name="Text 15"/>
          <p:cNvSpPr/>
          <p:nvPr/>
        </p:nvSpPr>
        <p:spPr>
          <a:xfrm>
            <a:off x="557784" y="3182112"/>
            <a:ext cx="3136392"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model.py</a:t>
            </a:r>
            <a:endParaRPr lang="en-US" sz="1050" dirty="0"/>
          </a:p>
        </p:txBody>
      </p:sp>
      <p:sp>
        <p:nvSpPr>
          <p:cNvPr id="18" name="Shape 16"/>
          <p:cNvSpPr/>
          <p:nvPr/>
        </p:nvSpPr>
        <p:spPr>
          <a:xfrm rot="10800000">
            <a:off x="2052828" y="3557016"/>
            <a:ext cx="146304" cy="73152"/>
          </a:xfrm>
          <a:prstGeom prst="triangle">
            <a:avLst/>
          </a:prstGeom>
          <a:solidFill>
            <a:srgbClr val="5B6B7C"/>
          </a:solidFill>
          <a:ln/>
        </p:spPr>
        <p:txBody>
          <a:bodyPr/>
          <a:lstStyle/>
          <a:p>
            <a:endParaRPr lang="en-IN"/>
          </a:p>
        </p:txBody>
      </p:sp>
      <p:sp>
        <p:nvSpPr>
          <p:cNvPr id="19" name="Shape 17"/>
          <p:cNvSpPr/>
          <p:nvPr/>
        </p:nvSpPr>
        <p:spPr>
          <a:xfrm>
            <a:off x="502920" y="3621024"/>
            <a:ext cx="3246120" cy="365760"/>
          </a:xfrm>
          <a:prstGeom prst="roundRect">
            <a:avLst>
              <a:gd name="adj" fmla="val 17500"/>
            </a:avLst>
          </a:prstGeom>
          <a:solidFill>
            <a:srgbClr val="2E7D4F"/>
          </a:solidFill>
          <a:ln/>
        </p:spPr>
        <p:txBody>
          <a:bodyPr/>
          <a:lstStyle/>
          <a:p>
            <a:endParaRPr lang="en-IN"/>
          </a:p>
        </p:txBody>
      </p:sp>
      <p:sp>
        <p:nvSpPr>
          <p:cNvPr id="20" name="Text 18"/>
          <p:cNvSpPr/>
          <p:nvPr/>
        </p:nvSpPr>
        <p:spPr>
          <a:xfrm>
            <a:off x="557784" y="3621024"/>
            <a:ext cx="3136392"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Qwen2.5-0.5B-Instruct</a:t>
            </a:r>
            <a:endParaRPr lang="en-US" sz="1150" dirty="0"/>
          </a:p>
        </p:txBody>
      </p:sp>
      <p:sp>
        <p:nvSpPr>
          <p:cNvPr id="21" name="Shape 19"/>
          <p:cNvSpPr/>
          <p:nvPr/>
        </p:nvSpPr>
        <p:spPr>
          <a:xfrm rot="10800000">
            <a:off x="2052828" y="3995928"/>
            <a:ext cx="146304" cy="73152"/>
          </a:xfrm>
          <a:prstGeom prst="triangle">
            <a:avLst/>
          </a:prstGeom>
          <a:solidFill>
            <a:srgbClr val="5B6B7C"/>
          </a:solidFill>
          <a:ln/>
        </p:spPr>
        <p:txBody>
          <a:bodyPr/>
          <a:lstStyle/>
          <a:p>
            <a:endParaRPr lang="en-IN"/>
          </a:p>
        </p:txBody>
      </p:sp>
      <p:sp>
        <p:nvSpPr>
          <p:cNvPr id="22" name="Shape 20"/>
          <p:cNvSpPr/>
          <p:nvPr/>
        </p:nvSpPr>
        <p:spPr>
          <a:xfrm>
            <a:off x="502920" y="4059936"/>
            <a:ext cx="3246120" cy="365760"/>
          </a:xfrm>
          <a:prstGeom prst="roundRect">
            <a:avLst>
              <a:gd name="adj" fmla="val 17500"/>
            </a:avLst>
          </a:prstGeom>
          <a:solidFill>
            <a:srgbClr val="14315E"/>
          </a:solidFill>
          <a:ln/>
        </p:spPr>
        <p:txBody>
          <a:bodyPr/>
          <a:lstStyle/>
          <a:p>
            <a:endParaRPr lang="en-IN"/>
          </a:p>
        </p:txBody>
      </p:sp>
      <p:sp>
        <p:nvSpPr>
          <p:cNvPr id="23" name="Text 21"/>
          <p:cNvSpPr/>
          <p:nvPr/>
        </p:nvSpPr>
        <p:spPr>
          <a:xfrm>
            <a:off x="557784" y="4059936"/>
            <a:ext cx="3136392"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Prediction</a:t>
            </a:r>
            <a:endParaRPr lang="en-US" sz="1150" dirty="0"/>
          </a:p>
        </p:txBody>
      </p:sp>
      <p:sp>
        <p:nvSpPr>
          <p:cNvPr id="24" name="Shape 22"/>
          <p:cNvSpPr/>
          <p:nvPr/>
        </p:nvSpPr>
        <p:spPr>
          <a:xfrm rot="10800000">
            <a:off x="2052828" y="4434840"/>
            <a:ext cx="146304" cy="73152"/>
          </a:xfrm>
          <a:prstGeom prst="triangle">
            <a:avLst/>
          </a:prstGeom>
          <a:solidFill>
            <a:srgbClr val="5B6B7C"/>
          </a:solidFill>
          <a:ln/>
        </p:spPr>
        <p:txBody>
          <a:bodyPr/>
          <a:lstStyle/>
          <a:p>
            <a:endParaRPr lang="en-IN"/>
          </a:p>
        </p:txBody>
      </p:sp>
      <p:sp>
        <p:nvSpPr>
          <p:cNvPr id="25" name="Shape 23"/>
          <p:cNvSpPr/>
          <p:nvPr/>
        </p:nvSpPr>
        <p:spPr>
          <a:xfrm>
            <a:off x="502920" y="4498848"/>
            <a:ext cx="3246120" cy="365760"/>
          </a:xfrm>
          <a:prstGeom prst="roundRect">
            <a:avLst>
              <a:gd name="adj" fmla="val 17500"/>
            </a:avLst>
          </a:prstGeom>
          <a:solidFill>
            <a:srgbClr val="14315E"/>
          </a:solidFill>
          <a:ln/>
        </p:spPr>
        <p:txBody>
          <a:bodyPr/>
          <a:lstStyle/>
          <a:p>
            <a:endParaRPr lang="en-IN"/>
          </a:p>
        </p:txBody>
      </p:sp>
      <p:sp>
        <p:nvSpPr>
          <p:cNvPr id="26" name="Text 24"/>
          <p:cNvSpPr/>
          <p:nvPr/>
        </p:nvSpPr>
        <p:spPr>
          <a:xfrm>
            <a:off x="557784" y="4498848"/>
            <a:ext cx="3136392"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p:txBody>
      </p:sp>
      <p:sp>
        <p:nvSpPr>
          <p:cNvPr id="27" name="Shape 25"/>
          <p:cNvSpPr/>
          <p:nvPr/>
        </p:nvSpPr>
        <p:spPr>
          <a:xfrm rot="10800000">
            <a:off x="2052828" y="4873752"/>
            <a:ext cx="146304" cy="73152"/>
          </a:xfrm>
          <a:prstGeom prst="triangle">
            <a:avLst/>
          </a:prstGeom>
          <a:solidFill>
            <a:srgbClr val="5B6B7C"/>
          </a:solidFill>
          <a:ln/>
        </p:spPr>
        <p:txBody>
          <a:bodyPr/>
          <a:lstStyle/>
          <a:p>
            <a:endParaRPr lang="en-IN"/>
          </a:p>
        </p:txBody>
      </p:sp>
      <p:sp>
        <p:nvSpPr>
          <p:cNvPr id="28" name="Shape 26"/>
          <p:cNvSpPr/>
          <p:nvPr/>
        </p:nvSpPr>
        <p:spPr>
          <a:xfrm>
            <a:off x="502920" y="4937760"/>
            <a:ext cx="3246120" cy="365760"/>
          </a:xfrm>
          <a:prstGeom prst="roundRect">
            <a:avLst>
              <a:gd name="adj" fmla="val 17500"/>
            </a:avLst>
          </a:prstGeom>
          <a:solidFill>
            <a:srgbClr val="C9821B"/>
          </a:solidFill>
          <a:ln/>
        </p:spPr>
        <p:txBody>
          <a:bodyPr/>
          <a:lstStyle/>
          <a:p>
            <a:endParaRPr lang="en-IN"/>
          </a:p>
        </p:txBody>
      </p:sp>
      <p:sp>
        <p:nvSpPr>
          <p:cNvPr id="29" name="Text 27"/>
          <p:cNvSpPr/>
          <p:nvPr/>
        </p:nvSpPr>
        <p:spPr>
          <a:xfrm>
            <a:off x="557784" y="4937760"/>
            <a:ext cx="3136392"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leaderboard.json</a:t>
            </a:r>
            <a:endParaRPr lang="en-US" sz="1050" dirty="0"/>
          </a:p>
        </p:txBody>
      </p:sp>
      <p:sp>
        <p:nvSpPr>
          <p:cNvPr id="30" name="Shape 28"/>
          <p:cNvSpPr/>
          <p:nvPr/>
        </p:nvSpPr>
        <p:spPr>
          <a:xfrm>
            <a:off x="3977640" y="1554480"/>
            <a:ext cx="3520440" cy="1325880"/>
          </a:xfrm>
          <a:prstGeom prst="roundRect">
            <a:avLst>
              <a:gd name="adj" fmla="val 5517"/>
            </a:avLst>
          </a:prstGeom>
          <a:solidFill>
            <a:srgbClr val="17376A"/>
          </a:solidFill>
          <a:ln w="12700">
            <a:solidFill>
              <a:srgbClr val="2A4E86"/>
            </a:solidFill>
            <a:prstDash val="solid"/>
          </a:ln>
        </p:spPr>
        <p:txBody>
          <a:bodyPr/>
          <a:lstStyle/>
          <a:p>
            <a:endParaRPr lang="en-IN"/>
          </a:p>
        </p:txBody>
      </p:sp>
      <p:sp>
        <p:nvSpPr>
          <p:cNvPr id="31" name="Text 29"/>
          <p:cNvSpPr/>
          <p:nvPr/>
        </p:nvSpPr>
        <p:spPr>
          <a:xfrm>
            <a:off x="4142232" y="1645920"/>
            <a:ext cx="3191256" cy="274320"/>
          </a:xfrm>
          <a:prstGeom prst="rect">
            <a:avLst/>
          </a:prstGeom>
          <a:noFill/>
          <a:ln/>
        </p:spPr>
        <p:txBody>
          <a:bodyPr wrap="square" lIns="0" tIns="0" rIns="0" bIns="0" rtlCol="0" anchor="ctr"/>
          <a:lstStyle/>
          <a:p>
            <a:pPr marL="0" indent="0">
              <a:buNone/>
            </a:pPr>
            <a:r>
              <a:rPr lang="en-US" sz="1200" b="1" dirty="0">
                <a:solidFill>
                  <a:srgbClr val="9CC1F0"/>
                </a:solidFill>
                <a:latin typeface="Cambria" pitchFamily="34" charset="0"/>
                <a:ea typeface="Cambria" pitchFamily="34" charset="-122"/>
                <a:cs typeface="Cambria" pitchFamily="34" charset="-120"/>
              </a:rPr>
              <a:t>Model Used</a:t>
            </a:r>
            <a:endParaRPr lang="en-US" sz="1200" dirty="0"/>
          </a:p>
        </p:txBody>
      </p:sp>
      <p:sp>
        <p:nvSpPr>
          <p:cNvPr id="32" name="Text 30"/>
          <p:cNvSpPr/>
          <p:nvPr/>
        </p:nvSpPr>
        <p:spPr>
          <a:xfrm>
            <a:off x="4142232" y="1920240"/>
            <a:ext cx="3191256" cy="36576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Qwen/Qwen2.5-0.5B-Instruct</a:t>
            </a:r>
            <a:endParaRPr lang="en-US" sz="1300" dirty="0"/>
          </a:p>
        </p:txBody>
      </p:sp>
      <p:sp>
        <p:nvSpPr>
          <p:cNvPr id="33" name="Shape 31"/>
          <p:cNvSpPr/>
          <p:nvPr/>
        </p:nvSpPr>
        <p:spPr>
          <a:xfrm>
            <a:off x="4160520" y="2359152"/>
            <a:ext cx="64008" cy="64008"/>
          </a:xfrm>
          <a:prstGeom prst="ellipse">
            <a:avLst/>
          </a:prstGeom>
          <a:solidFill>
            <a:srgbClr val="C9821B"/>
          </a:solidFill>
          <a:ln/>
        </p:spPr>
        <p:txBody>
          <a:bodyPr/>
          <a:lstStyle/>
          <a:p>
            <a:endParaRPr lang="en-IN"/>
          </a:p>
        </p:txBody>
      </p:sp>
      <p:sp>
        <p:nvSpPr>
          <p:cNvPr id="34" name="Text 32"/>
          <p:cNvSpPr/>
          <p:nvPr/>
        </p:nvSpPr>
        <p:spPr>
          <a:xfrm>
            <a:off x="4306824" y="2249424"/>
            <a:ext cx="3017520" cy="256032"/>
          </a:xfrm>
          <a:prstGeom prst="rect">
            <a:avLst/>
          </a:prstGeom>
          <a:noFill/>
          <a:ln/>
        </p:spPr>
        <p:txBody>
          <a:bodyPr wrap="square" lIns="0" tIns="0" rIns="0" bIns="0" rtlCol="0" anchor="ctr"/>
          <a:lstStyle/>
          <a:p>
            <a:pPr marL="0" indent="0">
              <a:buNone/>
            </a:pPr>
            <a:r>
              <a:rPr lang="en-US" sz="950" dirty="0">
                <a:solidFill>
                  <a:srgbClr val="E4EDFA"/>
                </a:solidFill>
                <a:latin typeface="Calibri" pitchFamily="34" charset="0"/>
                <a:ea typeface="Calibri" pitchFamily="34" charset="-122"/>
                <a:cs typeface="Calibri" pitchFamily="34" charset="-120"/>
              </a:rPr>
              <a:t>Open-source &amp; Hugging Face compatible</a:t>
            </a:r>
            <a:endParaRPr lang="en-US" sz="950" dirty="0"/>
          </a:p>
        </p:txBody>
      </p:sp>
      <p:sp>
        <p:nvSpPr>
          <p:cNvPr id="35" name="Shape 33"/>
          <p:cNvSpPr/>
          <p:nvPr/>
        </p:nvSpPr>
        <p:spPr>
          <a:xfrm>
            <a:off x="4160520" y="2551176"/>
            <a:ext cx="64008" cy="64008"/>
          </a:xfrm>
          <a:prstGeom prst="ellipse">
            <a:avLst/>
          </a:prstGeom>
          <a:solidFill>
            <a:srgbClr val="C9821B"/>
          </a:solidFill>
          <a:ln/>
        </p:spPr>
        <p:txBody>
          <a:bodyPr/>
          <a:lstStyle/>
          <a:p>
            <a:endParaRPr lang="en-IN"/>
          </a:p>
        </p:txBody>
      </p:sp>
      <p:sp>
        <p:nvSpPr>
          <p:cNvPr id="36" name="Text 34"/>
          <p:cNvSpPr/>
          <p:nvPr/>
        </p:nvSpPr>
        <p:spPr>
          <a:xfrm>
            <a:off x="4306824" y="2441448"/>
            <a:ext cx="3017520" cy="256032"/>
          </a:xfrm>
          <a:prstGeom prst="rect">
            <a:avLst/>
          </a:prstGeom>
          <a:noFill/>
          <a:ln/>
        </p:spPr>
        <p:txBody>
          <a:bodyPr wrap="square" lIns="0" tIns="0" rIns="0" bIns="0" rtlCol="0" anchor="ctr"/>
          <a:lstStyle/>
          <a:p>
            <a:pPr marL="0" indent="0">
              <a:buNone/>
            </a:pPr>
            <a:r>
              <a:rPr lang="en-US" sz="950" dirty="0">
                <a:solidFill>
                  <a:srgbClr val="E4EDFA"/>
                </a:solidFill>
                <a:latin typeface="Calibri" pitchFamily="34" charset="0"/>
                <a:ea typeface="Calibri" pitchFamily="34" charset="-122"/>
                <a:cs typeface="Calibri" pitchFamily="34" charset="-120"/>
              </a:rPr>
              <a:t>Lightweight, CPU-runnable, easy to reproduce</a:t>
            </a:r>
            <a:endParaRPr lang="en-US" sz="950" dirty="0"/>
          </a:p>
        </p:txBody>
      </p:sp>
      <p:sp>
        <p:nvSpPr>
          <p:cNvPr id="37" name="Shape 35"/>
          <p:cNvSpPr/>
          <p:nvPr/>
        </p:nvSpPr>
        <p:spPr>
          <a:xfrm>
            <a:off x="4160520" y="2743200"/>
            <a:ext cx="64008" cy="64008"/>
          </a:xfrm>
          <a:prstGeom prst="ellipse">
            <a:avLst/>
          </a:prstGeom>
          <a:solidFill>
            <a:srgbClr val="C9821B"/>
          </a:solidFill>
          <a:ln/>
        </p:spPr>
        <p:txBody>
          <a:bodyPr/>
          <a:lstStyle/>
          <a:p>
            <a:endParaRPr lang="en-IN"/>
          </a:p>
        </p:txBody>
      </p:sp>
      <p:sp>
        <p:nvSpPr>
          <p:cNvPr id="38" name="Text 36"/>
          <p:cNvSpPr/>
          <p:nvPr/>
        </p:nvSpPr>
        <p:spPr>
          <a:xfrm>
            <a:off x="4306824" y="2633472"/>
            <a:ext cx="3017520" cy="256032"/>
          </a:xfrm>
          <a:prstGeom prst="rect">
            <a:avLst/>
          </a:prstGeom>
          <a:noFill/>
          <a:ln/>
        </p:spPr>
        <p:txBody>
          <a:bodyPr wrap="square" lIns="0" tIns="0" rIns="0" bIns="0" rtlCol="0" anchor="ctr"/>
          <a:lstStyle/>
          <a:p>
            <a:pPr marL="0" indent="0">
              <a:buNone/>
            </a:pPr>
            <a:r>
              <a:rPr lang="en-US" sz="950" dirty="0">
                <a:solidFill>
                  <a:srgbClr val="E4EDFA"/>
                </a:solidFill>
                <a:latin typeface="Calibri" pitchFamily="34" charset="0"/>
                <a:ea typeface="Calibri" pitchFamily="34" charset="-122"/>
                <a:cs typeface="Calibri" pitchFamily="34" charset="-120"/>
              </a:rPr>
              <a:t>Well-suited for controlled benchmark evaluation</a:t>
            </a:r>
            <a:endParaRPr lang="en-US" sz="950" dirty="0"/>
          </a:p>
        </p:txBody>
      </p:sp>
      <p:sp>
        <p:nvSpPr>
          <p:cNvPr id="39" name="Text 37"/>
          <p:cNvSpPr/>
          <p:nvPr/>
        </p:nvSpPr>
        <p:spPr>
          <a:xfrm>
            <a:off x="3977640" y="3017520"/>
            <a:ext cx="3520440" cy="256032"/>
          </a:xfrm>
          <a:prstGeom prst="rect">
            <a:avLst/>
          </a:prstGeom>
          <a:noFill/>
          <a:ln/>
        </p:spPr>
        <p:txBody>
          <a:bodyPr wrap="square" lIns="0" tIns="0" rIns="0" bIns="0" rtlCol="0" anchor="ctr"/>
          <a:lstStyle/>
          <a:p>
            <a:pPr marL="0" indent="0">
              <a:buNone/>
            </a:pPr>
            <a:r>
              <a:rPr lang="en-US" sz="1250" b="1" dirty="0">
                <a:solidFill>
                  <a:srgbClr val="14315E"/>
                </a:solidFill>
                <a:latin typeface="Cambria" pitchFamily="34" charset="0"/>
                <a:ea typeface="Cambria" pitchFamily="34" charset="-122"/>
                <a:cs typeface="Cambria" pitchFamily="34" charset="-120"/>
              </a:rPr>
              <a:t>Role of Each File</a:t>
            </a:r>
            <a:endParaRPr lang="en-US" sz="1250" dirty="0"/>
          </a:p>
        </p:txBody>
      </p:sp>
      <p:sp>
        <p:nvSpPr>
          <p:cNvPr id="40" name="Shape 38"/>
          <p:cNvSpPr/>
          <p:nvPr/>
        </p:nvSpPr>
        <p:spPr>
          <a:xfrm>
            <a:off x="3977640" y="3310128"/>
            <a:ext cx="3520440" cy="457200"/>
          </a:xfrm>
          <a:prstGeom prst="roundRect">
            <a:avLst>
              <a:gd name="adj" fmla="val 12000"/>
            </a:avLst>
          </a:prstGeom>
          <a:solidFill>
            <a:srgbClr val="EAF1FB"/>
          </a:solidFill>
          <a:ln w="12700">
            <a:solidFill>
              <a:srgbClr val="C7D4E3"/>
            </a:solidFill>
            <a:prstDash val="solid"/>
          </a:ln>
        </p:spPr>
        <p:txBody>
          <a:bodyPr/>
          <a:lstStyle/>
          <a:p>
            <a:endParaRPr lang="en-IN"/>
          </a:p>
        </p:txBody>
      </p:sp>
      <p:sp>
        <p:nvSpPr>
          <p:cNvPr id="41" name="Text 39"/>
          <p:cNvSpPr/>
          <p:nvPr/>
        </p:nvSpPr>
        <p:spPr>
          <a:xfrm>
            <a:off x="4069080" y="3337560"/>
            <a:ext cx="3337560" cy="182880"/>
          </a:xfrm>
          <a:prstGeom prst="rect">
            <a:avLst/>
          </a:prstGeom>
          <a:noFill/>
          <a:ln/>
        </p:spPr>
        <p:txBody>
          <a:bodyPr wrap="square" lIns="0" tIns="0" rIns="0" bIns="0" rtlCol="0" anchor="ctr"/>
          <a:lstStyle/>
          <a:p>
            <a:pPr marL="0" indent="0">
              <a:buNone/>
            </a:pPr>
            <a:r>
              <a:rPr lang="en-US" sz="950" b="1" dirty="0">
                <a:solidFill>
                  <a:srgbClr val="2F6FB7"/>
                </a:solidFill>
                <a:latin typeface="Courier New" pitchFamily="34" charset="0"/>
                <a:ea typeface="Courier New" pitchFamily="34" charset="-122"/>
                <a:cs typeface="Courier New" pitchFamily="34" charset="-120"/>
              </a:rPr>
              <a:t>main.py</a:t>
            </a:r>
            <a:endParaRPr lang="en-US" sz="950" dirty="0"/>
          </a:p>
        </p:txBody>
      </p:sp>
      <p:sp>
        <p:nvSpPr>
          <p:cNvPr id="42" name="Text 40"/>
          <p:cNvSpPr/>
          <p:nvPr/>
        </p:nvSpPr>
        <p:spPr>
          <a:xfrm>
            <a:off x="4069080" y="3520440"/>
            <a:ext cx="3337560" cy="228600"/>
          </a:xfrm>
          <a:prstGeom prst="rect">
            <a:avLst/>
          </a:prstGeom>
          <a:noFill/>
          <a:ln/>
        </p:spPr>
        <p:txBody>
          <a:bodyPr wrap="square" lIns="0" tIns="0" rIns="0" bIns="0" rtlCol="0" anchor="ctr"/>
          <a:lstStyle/>
          <a:p>
            <a:pPr marL="0" indent="0">
              <a:buNone/>
            </a:pPr>
            <a:r>
              <a:rPr lang="en-US" sz="830" dirty="0">
                <a:solidFill>
                  <a:srgbClr val="1B2430"/>
                </a:solidFill>
                <a:latin typeface="Calibri" pitchFamily="34" charset="0"/>
                <a:ea typeface="Calibri" pitchFamily="34" charset="-122"/>
                <a:cs typeface="Calibri" pitchFamily="34" charset="-120"/>
              </a:rPr>
              <a:t>Orchestrates the run — parses CLI args, wires data → model → evaluation.</a:t>
            </a:r>
            <a:endParaRPr lang="en-US" sz="830" dirty="0"/>
          </a:p>
        </p:txBody>
      </p:sp>
      <p:sp>
        <p:nvSpPr>
          <p:cNvPr id="43" name="Shape 41"/>
          <p:cNvSpPr/>
          <p:nvPr/>
        </p:nvSpPr>
        <p:spPr>
          <a:xfrm>
            <a:off x="3977640" y="3803904"/>
            <a:ext cx="3520440" cy="457200"/>
          </a:xfrm>
          <a:prstGeom prst="roundRect">
            <a:avLst>
              <a:gd name="adj" fmla="val 12000"/>
            </a:avLst>
          </a:prstGeom>
          <a:solidFill>
            <a:srgbClr val="EAF1FB"/>
          </a:solidFill>
          <a:ln w="12700">
            <a:solidFill>
              <a:srgbClr val="C7D4E3"/>
            </a:solidFill>
            <a:prstDash val="solid"/>
          </a:ln>
        </p:spPr>
        <p:txBody>
          <a:bodyPr/>
          <a:lstStyle/>
          <a:p>
            <a:endParaRPr lang="en-IN"/>
          </a:p>
        </p:txBody>
      </p:sp>
      <p:sp>
        <p:nvSpPr>
          <p:cNvPr id="44" name="Text 42"/>
          <p:cNvSpPr/>
          <p:nvPr/>
        </p:nvSpPr>
        <p:spPr>
          <a:xfrm>
            <a:off x="4069080" y="3831336"/>
            <a:ext cx="3337560" cy="182880"/>
          </a:xfrm>
          <a:prstGeom prst="rect">
            <a:avLst/>
          </a:prstGeom>
          <a:noFill/>
          <a:ln/>
        </p:spPr>
        <p:txBody>
          <a:bodyPr wrap="square" lIns="0" tIns="0" rIns="0" bIns="0" rtlCol="0" anchor="ctr"/>
          <a:lstStyle/>
          <a:p>
            <a:pPr marL="0" indent="0">
              <a:buNone/>
            </a:pPr>
            <a:r>
              <a:rPr lang="en-US" sz="950" b="1" dirty="0">
                <a:solidFill>
                  <a:srgbClr val="2F6FB7"/>
                </a:solidFill>
                <a:latin typeface="Courier New" pitchFamily="34" charset="0"/>
                <a:ea typeface="Courier New" pitchFamily="34" charset="-122"/>
                <a:cs typeface="Courier New" pitchFamily="34" charset="-120"/>
              </a:rPr>
              <a:t>data.py</a:t>
            </a:r>
            <a:endParaRPr lang="en-US" sz="950" dirty="0"/>
          </a:p>
        </p:txBody>
      </p:sp>
      <p:sp>
        <p:nvSpPr>
          <p:cNvPr id="45" name="Text 43"/>
          <p:cNvSpPr/>
          <p:nvPr/>
        </p:nvSpPr>
        <p:spPr>
          <a:xfrm>
            <a:off x="4069080" y="4014216"/>
            <a:ext cx="3337560" cy="228600"/>
          </a:xfrm>
          <a:prstGeom prst="rect">
            <a:avLst/>
          </a:prstGeom>
          <a:noFill/>
          <a:ln/>
        </p:spPr>
        <p:txBody>
          <a:bodyPr wrap="square" lIns="0" tIns="0" rIns="0" bIns="0" rtlCol="0" anchor="ctr"/>
          <a:lstStyle/>
          <a:p>
            <a:pPr marL="0" indent="0">
              <a:buNone/>
            </a:pPr>
            <a:r>
              <a:rPr lang="en-US" sz="830" dirty="0">
                <a:solidFill>
                  <a:srgbClr val="1B2430"/>
                </a:solidFill>
                <a:latin typeface="Calibri" pitchFamily="34" charset="0"/>
                <a:ea typeface="Calibri" pitchFamily="34" charset="-122"/>
                <a:cs typeface="Calibri" pitchFamily="34" charset="-120"/>
              </a:rPr>
              <a:t>Loads EU/EA .jsonl scenarios and builds prompt-ready MCQs.</a:t>
            </a:r>
            <a:endParaRPr lang="en-US" sz="830" dirty="0"/>
          </a:p>
        </p:txBody>
      </p:sp>
      <p:sp>
        <p:nvSpPr>
          <p:cNvPr id="46" name="Shape 44"/>
          <p:cNvSpPr/>
          <p:nvPr/>
        </p:nvSpPr>
        <p:spPr>
          <a:xfrm>
            <a:off x="3977640" y="4297680"/>
            <a:ext cx="3520440" cy="457200"/>
          </a:xfrm>
          <a:prstGeom prst="roundRect">
            <a:avLst>
              <a:gd name="adj" fmla="val 12000"/>
            </a:avLst>
          </a:prstGeom>
          <a:solidFill>
            <a:srgbClr val="EAF1FB"/>
          </a:solidFill>
          <a:ln w="12700">
            <a:solidFill>
              <a:srgbClr val="C7D4E3"/>
            </a:solidFill>
            <a:prstDash val="solid"/>
          </a:ln>
        </p:spPr>
        <p:txBody>
          <a:bodyPr/>
          <a:lstStyle/>
          <a:p>
            <a:endParaRPr lang="en-IN"/>
          </a:p>
        </p:txBody>
      </p:sp>
      <p:sp>
        <p:nvSpPr>
          <p:cNvPr id="47" name="Text 45"/>
          <p:cNvSpPr/>
          <p:nvPr/>
        </p:nvSpPr>
        <p:spPr>
          <a:xfrm>
            <a:off x="4069080" y="4325112"/>
            <a:ext cx="3337560" cy="182880"/>
          </a:xfrm>
          <a:prstGeom prst="rect">
            <a:avLst/>
          </a:prstGeom>
          <a:noFill/>
          <a:ln/>
        </p:spPr>
        <p:txBody>
          <a:bodyPr wrap="square" lIns="0" tIns="0" rIns="0" bIns="0" rtlCol="0" anchor="ctr"/>
          <a:lstStyle/>
          <a:p>
            <a:pPr marL="0" indent="0">
              <a:buNone/>
            </a:pPr>
            <a:r>
              <a:rPr lang="en-US" sz="950" b="1" dirty="0">
                <a:solidFill>
                  <a:srgbClr val="2F6FB7"/>
                </a:solidFill>
                <a:latin typeface="Courier New" pitchFamily="34" charset="0"/>
                <a:ea typeface="Courier New" pitchFamily="34" charset="-122"/>
                <a:cs typeface="Courier New" pitchFamily="34" charset="-120"/>
              </a:rPr>
              <a:t>model.py</a:t>
            </a:r>
            <a:endParaRPr lang="en-US" sz="950" dirty="0"/>
          </a:p>
        </p:txBody>
      </p:sp>
      <p:sp>
        <p:nvSpPr>
          <p:cNvPr id="48" name="Text 46"/>
          <p:cNvSpPr/>
          <p:nvPr/>
        </p:nvSpPr>
        <p:spPr>
          <a:xfrm>
            <a:off x="4069080" y="4507992"/>
            <a:ext cx="3337560" cy="228600"/>
          </a:xfrm>
          <a:prstGeom prst="rect">
            <a:avLst/>
          </a:prstGeom>
          <a:noFill/>
          <a:ln/>
        </p:spPr>
        <p:txBody>
          <a:bodyPr wrap="square" lIns="0" tIns="0" rIns="0" bIns="0" rtlCol="0" anchor="ctr"/>
          <a:lstStyle/>
          <a:p>
            <a:pPr marL="0" indent="0">
              <a:buNone/>
            </a:pPr>
            <a:r>
              <a:rPr lang="en-US" sz="830" dirty="0">
                <a:solidFill>
                  <a:srgbClr val="1B2430"/>
                </a:solidFill>
                <a:latin typeface="Calibri" pitchFamily="34" charset="0"/>
                <a:ea typeface="Calibri" pitchFamily="34" charset="-122"/>
                <a:cs typeface="Calibri" pitchFamily="34" charset="-120"/>
              </a:rPr>
              <a:t>Wraps the HF model/tokenizer; handles generation &amp; answer parsing.</a:t>
            </a:r>
            <a:endParaRPr lang="en-US" sz="830" dirty="0"/>
          </a:p>
        </p:txBody>
      </p:sp>
      <p:sp>
        <p:nvSpPr>
          <p:cNvPr id="49" name="Shape 47"/>
          <p:cNvSpPr/>
          <p:nvPr/>
        </p:nvSpPr>
        <p:spPr>
          <a:xfrm>
            <a:off x="3977640" y="4791456"/>
            <a:ext cx="3520440" cy="457200"/>
          </a:xfrm>
          <a:prstGeom prst="roundRect">
            <a:avLst>
              <a:gd name="adj" fmla="val 12000"/>
            </a:avLst>
          </a:prstGeom>
          <a:solidFill>
            <a:srgbClr val="EAF1FB"/>
          </a:solidFill>
          <a:ln w="12700">
            <a:solidFill>
              <a:srgbClr val="C7D4E3"/>
            </a:solidFill>
            <a:prstDash val="solid"/>
          </a:ln>
        </p:spPr>
        <p:txBody>
          <a:bodyPr/>
          <a:lstStyle/>
          <a:p>
            <a:endParaRPr lang="en-IN"/>
          </a:p>
        </p:txBody>
      </p:sp>
      <p:sp>
        <p:nvSpPr>
          <p:cNvPr id="50" name="Text 48"/>
          <p:cNvSpPr/>
          <p:nvPr/>
        </p:nvSpPr>
        <p:spPr>
          <a:xfrm>
            <a:off x="4069080" y="4818888"/>
            <a:ext cx="3337560" cy="182880"/>
          </a:xfrm>
          <a:prstGeom prst="rect">
            <a:avLst/>
          </a:prstGeom>
          <a:noFill/>
          <a:ln/>
        </p:spPr>
        <p:txBody>
          <a:bodyPr wrap="square" lIns="0" tIns="0" rIns="0" bIns="0" rtlCol="0" anchor="ctr"/>
          <a:lstStyle/>
          <a:p>
            <a:pPr marL="0" indent="0">
              <a:buNone/>
            </a:pPr>
            <a:r>
              <a:rPr lang="en-US" sz="950" b="1" dirty="0">
                <a:solidFill>
                  <a:srgbClr val="2F6FB7"/>
                </a:solidFill>
                <a:latin typeface="Courier New" pitchFamily="34" charset="0"/>
                <a:ea typeface="Courier New" pitchFamily="34" charset="-122"/>
                <a:cs typeface="Courier New" pitchFamily="34" charset="-120"/>
              </a:rPr>
              <a:t>evaluation.py</a:t>
            </a:r>
            <a:endParaRPr lang="en-US" sz="950" dirty="0"/>
          </a:p>
        </p:txBody>
      </p:sp>
      <p:sp>
        <p:nvSpPr>
          <p:cNvPr id="51" name="Text 49"/>
          <p:cNvSpPr/>
          <p:nvPr/>
        </p:nvSpPr>
        <p:spPr>
          <a:xfrm>
            <a:off x="4069080" y="5001768"/>
            <a:ext cx="3337560" cy="228600"/>
          </a:xfrm>
          <a:prstGeom prst="rect">
            <a:avLst/>
          </a:prstGeom>
          <a:noFill/>
          <a:ln/>
        </p:spPr>
        <p:txBody>
          <a:bodyPr wrap="square" lIns="0" tIns="0" rIns="0" bIns="0" rtlCol="0" anchor="ctr"/>
          <a:lstStyle/>
          <a:p>
            <a:pPr marL="0" indent="0">
              <a:buNone/>
            </a:pPr>
            <a:r>
              <a:rPr lang="en-US" sz="830" dirty="0">
                <a:solidFill>
                  <a:srgbClr val="1B2430"/>
                </a:solidFill>
                <a:latin typeface="Calibri" pitchFamily="34" charset="0"/>
                <a:ea typeface="Calibri" pitchFamily="34" charset="-122"/>
                <a:cs typeface="Calibri" pitchFamily="34" charset="-120"/>
              </a:rPr>
              <a:t>Scores predictions per category and writes leaderboard.json.</a:t>
            </a:r>
            <a:endParaRPr lang="en-US" sz="830" dirty="0"/>
          </a:p>
        </p:txBody>
      </p:sp>
      <p:sp>
        <p:nvSpPr>
          <p:cNvPr id="52" name="Text 50"/>
          <p:cNvSpPr/>
          <p:nvPr/>
        </p:nvSpPr>
        <p:spPr>
          <a:xfrm>
            <a:off x="8888913" y="585216"/>
            <a:ext cx="3886200" cy="292608"/>
          </a:xfrm>
          <a:prstGeom prst="rect">
            <a:avLst/>
          </a:prstGeom>
          <a:noFill/>
          <a:ln/>
        </p:spPr>
        <p:txBody>
          <a:bodyPr wrap="square" lIns="0" tIns="0" rIns="0" bIns="0" rtlCol="0" anchor="ctr"/>
          <a:lstStyle/>
          <a:p>
            <a:pPr marL="0" indent="0">
              <a:buNone/>
            </a:pPr>
            <a:r>
              <a:rPr lang="en-US" sz="1300" b="1" dirty="0">
                <a:solidFill>
                  <a:srgbClr val="14315E"/>
                </a:solidFill>
                <a:latin typeface="Cambria" pitchFamily="34" charset="0"/>
                <a:ea typeface="Cambria" pitchFamily="34" charset="-122"/>
                <a:cs typeface="Cambria" pitchFamily="34" charset="-120"/>
              </a:rPr>
              <a:t>Implementation Evidence</a:t>
            </a:r>
            <a:endParaRPr lang="en-US" sz="1300" dirty="0"/>
          </a:p>
        </p:txBody>
      </p:sp>
      <p:sp>
        <p:nvSpPr>
          <p:cNvPr id="60" name="Text 58"/>
          <p:cNvSpPr/>
          <p:nvPr/>
        </p:nvSpPr>
        <p:spPr>
          <a:xfrm>
            <a:off x="7955280" y="3739896"/>
            <a:ext cx="384048" cy="384048"/>
          </a:xfrm>
          <a:prstGeom prst="rect">
            <a:avLst/>
          </a:prstGeom>
          <a:noFill/>
          <a:ln/>
        </p:spPr>
        <p:txBody>
          <a:bodyPr wrap="square" lIns="0" tIns="0" rIns="0" bIns="0" rtlCol="0" anchor="ctr"/>
          <a:lstStyle/>
          <a:p>
            <a:pPr marL="0" indent="0" algn="ctr">
              <a:buNone/>
            </a:pPr>
            <a:endParaRPr lang="en-US" sz="1500" dirty="0"/>
          </a:p>
        </p:txBody>
      </p:sp>
      <p:sp>
        <p:nvSpPr>
          <p:cNvPr id="61" name="Text 59"/>
          <p:cNvSpPr/>
          <p:nvPr/>
        </p:nvSpPr>
        <p:spPr>
          <a:xfrm>
            <a:off x="7955280" y="4096512"/>
            <a:ext cx="3611880" cy="274320"/>
          </a:xfrm>
          <a:prstGeom prst="rect">
            <a:avLst/>
          </a:prstGeom>
          <a:noFill/>
          <a:ln/>
        </p:spPr>
        <p:txBody>
          <a:bodyPr wrap="square" lIns="0" tIns="0" rIns="0" bIns="0" rtlCol="0" anchor="ctr"/>
          <a:lstStyle/>
          <a:p>
            <a:pPr marL="0" indent="0" algn="ctr">
              <a:buNone/>
            </a:pPr>
            <a:endParaRPr lang="en-US" sz="1150" dirty="0"/>
          </a:p>
        </p:txBody>
      </p:sp>
      <p:sp>
        <p:nvSpPr>
          <p:cNvPr id="63" name="Shape 61"/>
          <p:cNvSpPr/>
          <p:nvPr/>
        </p:nvSpPr>
        <p:spPr>
          <a:xfrm>
            <a:off x="502920" y="5559552"/>
            <a:ext cx="11183112" cy="402336"/>
          </a:xfrm>
          <a:prstGeom prst="roundRect">
            <a:avLst>
              <a:gd name="adj" fmla="val 13636"/>
            </a:avLst>
          </a:prstGeom>
          <a:solidFill>
            <a:srgbClr val="0F2039"/>
          </a:solidFill>
          <a:ln/>
        </p:spPr>
        <p:txBody>
          <a:bodyPr/>
          <a:lstStyle/>
          <a:p>
            <a:endParaRPr lang="en-IN"/>
          </a:p>
        </p:txBody>
      </p:sp>
      <p:sp>
        <p:nvSpPr>
          <p:cNvPr id="64" name="Text 62"/>
          <p:cNvSpPr/>
          <p:nvPr/>
        </p:nvSpPr>
        <p:spPr>
          <a:xfrm>
            <a:off x="640080" y="5559552"/>
            <a:ext cx="10881360" cy="402336"/>
          </a:xfrm>
          <a:prstGeom prst="rect">
            <a:avLst/>
          </a:prstGeom>
          <a:noFill/>
          <a:ln/>
        </p:spPr>
        <p:txBody>
          <a:bodyPr wrap="square" lIns="0" tIns="0" rIns="0" bIns="0" rtlCol="0" anchor="ctr"/>
          <a:lstStyle/>
          <a:p>
            <a:pPr marL="0" indent="0">
              <a:buNone/>
            </a:pPr>
            <a:r>
              <a:rPr lang="en-US" sz="1100" dirty="0">
                <a:solidFill>
                  <a:srgbClr val="8FE3A0"/>
                </a:solidFill>
                <a:latin typeface="Courier New" pitchFamily="34" charset="0"/>
                <a:ea typeface="Courier New" pitchFamily="34" charset="-122"/>
                <a:cs typeface="Courier New" pitchFamily="34" charset="-120"/>
              </a:rPr>
              <a:t>$ python src/main.py --model_type HF --model_path Qwen/Qwen2.5-0.5B-Instruct --lang en --task EU --device -1</a:t>
            </a:r>
            <a:endParaRPr lang="en-US" sz="1100" dirty="0"/>
          </a:p>
        </p:txBody>
      </p:sp>
      <p:sp>
        <p:nvSpPr>
          <p:cNvPr id="65" name="Shape 63"/>
          <p:cNvSpPr/>
          <p:nvPr/>
        </p:nvSpPr>
        <p:spPr>
          <a:xfrm>
            <a:off x="457200" y="6053328"/>
            <a:ext cx="11274552" cy="384048"/>
          </a:xfrm>
          <a:prstGeom prst="roundRect">
            <a:avLst>
              <a:gd name="adj" fmla="val 16667"/>
            </a:avLst>
          </a:prstGeom>
          <a:solidFill>
            <a:srgbClr val="D7E6F7"/>
          </a:solidFill>
          <a:ln w="12700">
            <a:solidFill>
              <a:srgbClr val="2F6FB7"/>
            </a:solidFill>
            <a:prstDash val="solid"/>
          </a:ln>
        </p:spPr>
        <p:txBody>
          <a:bodyPr/>
          <a:lstStyle/>
          <a:p>
            <a:endParaRPr lang="en-IN"/>
          </a:p>
        </p:txBody>
      </p:sp>
      <p:sp>
        <p:nvSpPr>
          <p:cNvPr id="66" name="Text 64"/>
          <p:cNvSpPr/>
          <p:nvPr/>
        </p:nvSpPr>
        <p:spPr>
          <a:xfrm>
            <a:off x="621792" y="6053328"/>
            <a:ext cx="10972800" cy="384048"/>
          </a:xfrm>
          <a:prstGeom prst="rect">
            <a:avLst/>
          </a:prstGeom>
          <a:noFill/>
          <a:ln/>
        </p:spPr>
        <p:txBody>
          <a:bodyPr wrap="square" lIns="0" tIns="0" rIns="0" bIns="0" rtlCol="0" anchor="ctr"/>
          <a:lstStyle/>
          <a:p>
            <a:pPr marL="0" indent="0">
              <a:buNone/>
            </a:pPr>
            <a:r>
              <a:rPr lang="en-US" sz="1100" b="1" dirty="0">
                <a:solidFill>
                  <a:srgbClr val="C9821B"/>
                </a:solidFill>
                <a:latin typeface="Calibri" pitchFamily="34" charset="0"/>
                <a:ea typeface="Calibri" pitchFamily="34" charset="-122"/>
                <a:cs typeface="Calibri" pitchFamily="34" charset="-120"/>
              </a:rPr>
              <a:t>KEY TAKEAWAY:  </a:t>
            </a:r>
            <a:r>
              <a:rPr lang="en-US" sz="1100" dirty="0">
                <a:solidFill>
                  <a:srgbClr val="14315E"/>
                </a:solidFill>
                <a:latin typeface="Calibri" pitchFamily="34" charset="0"/>
                <a:ea typeface="Calibri" pitchFamily="34" charset="-122"/>
                <a:cs typeface="Calibri" pitchFamily="34" charset="-120"/>
              </a:rPr>
              <a:t>Qwen2.5-0.5B-Instruct was chosen for fast, fully reproducible CPU-only evaluation of the EmoBench pipeline.</a:t>
            </a:r>
            <a:endParaRPr lang="en-US" sz="1100" dirty="0"/>
          </a:p>
        </p:txBody>
      </p:sp>
      <p:sp>
        <p:nvSpPr>
          <p:cNvPr id="68" name="Text 66"/>
          <p:cNvSpPr/>
          <p:nvPr/>
        </p:nvSpPr>
        <p:spPr>
          <a:xfrm>
            <a:off x="11457432" y="6528816"/>
            <a:ext cx="274320" cy="237744"/>
          </a:xfrm>
          <a:prstGeom prst="rect">
            <a:avLst/>
          </a:prstGeom>
          <a:noFill/>
          <a:ln/>
        </p:spPr>
        <p:txBody>
          <a:bodyPr wrap="square" lIns="0" tIns="0" rIns="0" bIns="0" rtlCol="0" anchor="ctr"/>
          <a:lstStyle/>
          <a:p>
            <a:pPr marL="0" indent="0" algn="r">
              <a:buNone/>
            </a:pPr>
            <a:r>
              <a:rPr lang="en-US" sz="850" dirty="0">
                <a:solidFill>
                  <a:srgbClr val="5B6B7C"/>
                </a:solidFill>
                <a:latin typeface="Calibri" pitchFamily="34" charset="0"/>
                <a:ea typeface="Calibri" pitchFamily="34" charset="-122"/>
                <a:cs typeface="Calibri" pitchFamily="34" charset="-120"/>
              </a:rPr>
              <a:t>4</a:t>
            </a:r>
            <a:endParaRPr lang="en-US" sz="850" dirty="0"/>
          </a:p>
        </p:txBody>
      </p:sp>
      <p:pic>
        <p:nvPicPr>
          <p:cNvPr id="70" name="Picture 69" descr="A screenshot of a computer&#10;&#10;Description automatically generated">
            <a:extLst>
              <a:ext uri="{FF2B5EF4-FFF2-40B4-BE49-F238E27FC236}">
                <a16:creationId xmlns:a16="http://schemas.microsoft.com/office/drawing/2014/main" id="{BF469633-D4EB-9FCD-4262-C6F3D6DF5D0F}"/>
              </a:ext>
            </a:extLst>
          </p:cNvPr>
          <p:cNvPicPr>
            <a:picLocks noChangeAspect="1"/>
          </p:cNvPicPr>
          <p:nvPr/>
        </p:nvPicPr>
        <p:blipFill>
          <a:blip r:embed="rId3"/>
          <a:stretch>
            <a:fillRect/>
          </a:stretch>
        </p:blipFill>
        <p:spPr>
          <a:xfrm>
            <a:off x="8568873" y="832338"/>
            <a:ext cx="2768742" cy="45532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marL="0" indent="0">
              <a:buNone/>
            </a:pPr>
            <a:r>
              <a:rPr lang="en-US" sz="2500" b="1" dirty="0">
                <a:solidFill>
                  <a:srgbClr val="14315E"/>
                </a:solidFill>
                <a:latin typeface="Cambria" pitchFamily="34" charset="0"/>
                <a:ea typeface="Cambria" pitchFamily="34" charset="-122"/>
                <a:cs typeface="Cambria" pitchFamily="34" charset="-120"/>
              </a:rPr>
              <a:t>Results</a:t>
            </a:r>
            <a:endParaRPr lang="en-US" sz="2500" dirty="0"/>
          </a:p>
        </p:txBody>
      </p:sp>
      <p:sp>
        <p:nvSpPr>
          <p:cNvPr id="3" name="Text 1"/>
          <p:cNvSpPr/>
          <p:nvPr/>
        </p:nvSpPr>
        <p:spPr>
          <a:xfrm>
            <a:off x="475488" y="777240"/>
            <a:ext cx="11247120" cy="292608"/>
          </a:xfrm>
          <a:prstGeom prst="rect">
            <a:avLst/>
          </a:prstGeom>
          <a:noFill/>
          <a:ln/>
        </p:spPr>
        <p:txBody>
          <a:bodyPr wrap="square" lIns="0" tIns="0" rIns="0" bIns="0" rtlCol="0" anchor="ctr"/>
          <a:lstStyle/>
          <a:p>
            <a:pPr marL="0" indent="0">
              <a:buNone/>
            </a:pPr>
            <a:r>
              <a:rPr lang="en-US" sz="1150" i="1" dirty="0">
                <a:solidFill>
                  <a:srgbClr val="5B6B7C"/>
                </a:solidFill>
                <a:latin typeface="Calibri" pitchFamily="34" charset="0"/>
                <a:ea typeface="Calibri" pitchFamily="34" charset="-122"/>
                <a:cs typeface="Calibri" pitchFamily="34" charset="-120"/>
              </a:rPr>
              <a:t>Paper-reported accuracy (%) vs. our own reproduction on Emotional Understanding</a:t>
            </a:r>
            <a:endParaRPr lang="en-US" sz="1150" dirty="0"/>
          </a:p>
        </p:txBody>
      </p:sp>
      <p:sp>
        <p:nvSpPr>
          <p:cNvPr id="4" name="Shape 2"/>
          <p:cNvSpPr/>
          <p:nvPr/>
        </p:nvSpPr>
        <p:spPr>
          <a:xfrm>
            <a:off x="502920" y="1234440"/>
            <a:ext cx="1828800" cy="310896"/>
          </a:xfrm>
          <a:prstGeom prst="roundRect">
            <a:avLst>
              <a:gd name="adj" fmla="val 17647"/>
            </a:avLst>
          </a:prstGeom>
          <a:solidFill>
            <a:srgbClr val="2F6FB7"/>
          </a:solidFill>
          <a:ln/>
        </p:spPr>
        <p:txBody>
          <a:bodyPr/>
          <a:lstStyle/>
          <a:p>
            <a:endParaRPr lang="en-IN"/>
          </a:p>
        </p:txBody>
      </p:sp>
      <p:sp>
        <p:nvSpPr>
          <p:cNvPr id="5" name="Text 3"/>
          <p:cNvSpPr/>
          <p:nvPr/>
        </p:nvSpPr>
        <p:spPr>
          <a:xfrm>
            <a:off x="502920" y="1234440"/>
            <a:ext cx="182880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RESEARCH PAPER</a:t>
            </a:r>
            <a:endParaRPr lang="en-US" sz="1050" dirty="0"/>
          </a:p>
        </p:txBody>
      </p:sp>
      <p:sp>
        <p:nvSpPr>
          <p:cNvPr id="6" name="Text 4"/>
          <p:cNvSpPr/>
          <p:nvPr/>
        </p:nvSpPr>
        <p:spPr>
          <a:xfrm>
            <a:off x="502920" y="1618488"/>
            <a:ext cx="5349240" cy="320040"/>
          </a:xfrm>
          <a:prstGeom prst="rect">
            <a:avLst/>
          </a:prstGeom>
          <a:noFill/>
          <a:ln/>
        </p:spPr>
        <p:txBody>
          <a:bodyPr wrap="square" lIns="0" tIns="0" rIns="0" bIns="0" rtlCol="0" anchor="ctr"/>
          <a:lstStyle/>
          <a:p>
            <a:pPr marL="0" indent="0">
              <a:buNone/>
            </a:pPr>
            <a:r>
              <a:rPr lang="en-US" sz="950" i="1" dirty="0">
                <a:solidFill>
                  <a:srgbClr val="5B6B7C"/>
                </a:solidFill>
                <a:latin typeface="Calibri" pitchFamily="34" charset="0"/>
                <a:ea typeface="Calibri" pitchFamily="34" charset="-122"/>
                <a:cs typeface="Calibri" pitchFamily="34" charset="-120"/>
              </a:rPr>
              <a:t>English-language results (Base/zero-shot); Chinese trends follow a similar pattern — see paper Tables 1–2.</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984248"/>
          <a:ext cx="5349240" cy="1463040"/>
        </p:xfrm>
        <a:graphic>
          <a:graphicData uri="http://schemas.openxmlformats.org/drawingml/2006/table">
            <a:tbl>
              <a:tblPr/>
              <a:tblGrid>
                <a:gridCol w="2788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92608">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14315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EU (EN)</a:t>
                      </a:r>
                      <a:endParaRPr lang="en-US" sz="105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14315E"/>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EA (EN)</a:t>
                      </a:r>
                      <a:endParaRPr lang="en-US" sz="105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14315E"/>
                    </a:solidFill>
                  </a:tcPr>
                </a:tc>
                <a:extLst>
                  <a:ext uri="{0D108BD9-81ED-4DB2-BD59-A6C34878D82A}">
                    <a16:rowId xmlns:a16="http://schemas.microsoft.com/office/drawing/2014/main" val="10000"/>
                  </a:ext>
                </a:extLst>
              </a:tr>
              <a:tr h="292608">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Random*</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2.62</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24.12</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Majority*</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11.50</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37.00</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extLst>
                  <a:ext uri="{0D108BD9-81ED-4DB2-BD59-A6C34878D82A}">
                    <a16:rowId xmlns:a16="http://schemas.microsoft.com/office/drawing/2014/main" val="10002"/>
                  </a:ext>
                </a:extLst>
              </a:tr>
              <a:tr h="292608">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GPT-3.5 (Base)</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33.12</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2430"/>
                          </a:solidFill>
                          <a:latin typeface="Calibri" pitchFamily="34" charset="0"/>
                          <a:ea typeface="Calibri" pitchFamily="34" charset="-122"/>
                          <a:cs typeface="Calibri" pitchFamily="34" charset="-120"/>
                        </a:rPr>
                        <a:t>61.38</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ctr">
                        <a:buNone/>
                      </a:pPr>
                      <a:r>
                        <a:rPr lang="en-US" sz="1000" b="1" dirty="0">
                          <a:solidFill>
                            <a:srgbClr val="8A5300"/>
                          </a:solidFill>
                          <a:latin typeface="Calibri" pitchFamily="34" charset="0"/>
                          <a:ea typeface="Calibri" pitchFamily="34" charset="-122"/>
                          <a:cs typeface="Calibri" pitchFamily="34" charset="-120"/>
                        </a:rPr>
                        <a:t>GPT-4 (Base) — best</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3E0"/>
                    </a:solidFill>
                  </a:tcPr>
                </a:tc>
                <a:tc>
                  <a:txBody>
                    <a:bodyPr/>
                    <a:lstStyle/>
                    <a:p>
                      <a:pPr marL="0" indent="0" algn="ctr">
                        <a:buNone/>
                      </a:pPr>
                      <a:r>
                        <a:rPr lang="en-US" sz="1000" b="1" dirty="0">
                          <a:solidFill>
                            <a:srgbClr val="8A5300"/>
                          </a:solidFill>
                          <a:latin typeface="Calibri" pitchFamily="34" charset="0"/>
                          <a:ea typeface="Calibri" pitchFamily="34" charset="-122"/>
                          <a:cs typeface="Calibri" pitchFamily="34" charset="-120"/>
                        </a:rPr>
                        <a:t>59.75</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3E0"/>
                    </a:solidFill>
                  </a:tcPr>
                </a:tc>
                <a:tc>
                  <a:txBody>
                    <a:bodyPr/>
                    <a:lstStyle/>
                    <a:p>
                      <a:pPr marL="0" indent="0" algn="ctr">
                        <a:buNone/>
                      </a:pPr>
                      <a:r>
                        <a:rPr lang="en-US" sz="1000" b="1" dirty="0">
                          <a:solidFill>
                            <a:srgbClr val="8A5300"/>
                          </a:solidFill>
                          <a:latin typeface="Calibri" pitchFamily="34" charset="0"/>
                          <a:ea typeface="Calibri" pitchFamily="34" charset="-122"/>
                          <a:cs typeface="Calibri" pitchFamily="34" charset="-120"/>
                        </a:rPr>
                        <a:t>75.50</a:t>
                      </a:r>
                      <a:endParaRPr lang="en-US" sz="100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3E0"/>
                    </a:solidFill>
                  </a:tcPr>
                </a:tc>
                <a:extLst>
                  <a:ext uri="{0D108BD9-81ED-4DB2-BD59-A6C34878D82A}">
                    <a16:rowId xmlns:a16="http://schemas.microsoft.com/office/drawing/2014/main" val="10004"/>
                  </a:ext>
                </a:extLst>
              </a:tr>
            </a:tbl>
          </a:graphicData>
        </a:graphic>
      </p:graphicFrame>
      <p:sp>
        <p:nvSpPr>
          <p:cNvPr id="8" name="Text 5"/>
          <p:cNvSpPr/>
          <p:nvPr/>
        </p:nvSpPr>
        <p:spPr>
          <a:xfrm>
            <a:off x="502920" y="3502152"/>
            <a:ext cx="5349240" cy="228600"/>
          </a:xfrm>
          <a:prstGeom prst="rect">
            <a:avLst/>
          </a:prstGeom>
          <a:noFill/>
          <a:ln/>
        </p:spPr>
        <p:txBody>
          <a:bodyPr wrap="square" lIns="0" tIns="0" rIns="0" bIns="0" rtlCol="0" anchor="ctr"/>
          <a:lstStyle/>
          <a:p>
            <a:pPr marL="0" indent="0">
              <a:buNone/>
            </a:pPr>
            <a:r>
              <a:rPr lang="en-US" sz="850" i="1" dirty="0">
                <a:solidFill>
                  <a:srgbClr val="5B6B7C"/>
                </a:solidFill>
                <a:latin typeface="Calibri" pitchFamily="34" charset="0"/>
                <a:ea typeface="Calibri" pitchFamily="34" charset="-122"/>
                <a:cs typeface="Calibri" pitchFamily="34" charset="-120"/>
              </a:rPr>
              <a:t>*Random/Majority baselines are language-invariant.</a:t>
            </a:r>
            <a:endParaRPr lang="en-US" sz="850" dirty="0"/>
          </a:p>
        </p:txBody>
      </p:sp>
      <p:sp>
        <p:nvSpPr>
          <p:cNvPr id="9" name="Shape 6"/>
          <p:cNvSpPr/>
          <p:nvPr/>
        </p:nvSpPr>
        <p:spPr>
          <a:xfrm>
            <a:off x="502920" y="3840480"/>
            <a:ext cx="5349240" cy="576072"/>
          </a:xfrm>
          <a:prstGeom prst="roundRect">
            <a:avLst>
              <a:gd name="adj" fmla="val 9524"/>
            </a:avLst>
          </a:prstGeom>
          <a:solidFill>
            <a:srgbClr val="EAF1FB"/>
          </a:solidFill>
          <a:ln w="12700">
            <a:solidFill>
              <a:srgbClr val="C7D4E3"/>
            </a:solidFill>
            <a:prstDash val="solid"/>
          </a:ln>
        </p:spPr>
        <p:txBody>
          <a:bodyPr/>
          <a:lstStyle/>
          <a:p>
            <a:endParaRPr lang="en-IN"/>
          </a:p>
        </p:txBody>
      </p:sp>
      <p:sp>
        <p:nvSpPr>
          <p:cNvPr id="10" name="Shape 7"/>
          <p:cNvSpPr/>
          <p:nvPr/>
        </p:nvSpPr>
        <p:spPr>
          <a:xfrm>
            <a:off x="630936" y="4000500"/>
            <a:ext cx="256032" cy="256032"/>
          </a:xfrm>
          <a:prstGeom prst="ellipse">
            <a:avLst/>
          </a:prstGeom>
          <a:solidFill>
            <a:srgbClr val="2F6FB7"/>
          </a:solidFill>
          <a:ln/>
        </p:spPr>
        <p:txBody>
          <a:bodyPr/>
          <a:lstStyle/>
          <a:p>
            <a:endParaRPr lang="en-IN"/>
          </a:p>
        </p:txBody>
      </p:sp>
      <p:sp>
        <p:nvSpPr>
          <p:cNvPr id="11" name="Text 8"/>
          <p:cNvSpPr/>
          <p:nvPr/>
        </p:nvSpPr>
        <p:spPr>
          <a:xfrm>
            <a:off x="630936" y="400050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2" name="Text 9"/>
          <p:cNvSpPr/>
          <p:nvPr/>
        </p:nvSpPr>
        <p:spPr>
          <a:xfrm>
            <a:off x="960120" y="3840480"/>
            <a:ext cx="4754880" cy="576072"/>
          </a:xfrm>
          <a:prstGeom prst="rect">
            <a:avLst/>
          </a:prstGeom>
          <a:noFill/>
          <a:ln/>
        </p:spPr>
        <p:txBody>
          <a:bodyPr wrap="square" lIns="0" tIns="0" rIns="0" bIns="0" rtlCol="0" anchor="ctr"/>
          <a:lstStyle/>
          <a:p>
            <a:pPr marL="0" indent="0">
              <a:lnSpc>
                <a:spcPct val="102000"/>
              </a:lnSpc>
              <a:buNone/>
            </a:pPr>
            <a:r>
              <a:rPr lang="en-US" sz="970" dirty="0">
                <a:solidFill>
                  <a:srgbClr val="1B2430"/>
                </a:solidFill>
                <a:latin typeface="Calibri" pitchFamily="34" charset="0"/>
                <a:ea typeface="Calibri" pitchFamily="34" charset="-122"/>
                <a:cs typeface="Calibri" pitchFamily="34" charset="-120"/>
              </a:rPr>
              <a:t>EU is harder than EA — GPT-4 scores ~60% (EU) vs ~76% (EA), since EU needs both emotion + cause.</a:t>
            </a:r>
            <a:endParaRPr lang="en-US" sz="970" dirty="0"/>
          </a:p>
        </p:txBody>
      </p:sp>
      <p:sp>
        <p:nvSpPr>
          <p:cNvPr id="13" name="Shape 10"/>
          <p:cNvSpPr/>
          <p:nvPr/>
        </p:nvSpPr>
        <p:spPr>
          <a:xfrm>
            <a:off x="502920" y="4498848"/>
            <a:ext cx="5349240" cy="576072"/>
          </a:xfrm>
          <a:prstGeom prst="roundRect">
            <a:avLst>
              <a:gd name="adj" fmla="val 9524"/>
            </a:avLst>
          </a:prstGeom>
          <a:solidFill>
            <a:srgbClr val="EAF1FB"/>
          </a:solidFill>
          <a:ln w="12700">
            <a:solidFill>
              <a:srgbClr val="C7D4E3"/>
            </a:solidFill>
            <a:prstDash val="solid"/>
          </a:ln>
        </p:spPr>
        <p:txBody>
          <a:bodyPr/>
          <a:lstStyle/>
          <a:p>
            <a:endParaRPr lang="en-IN"/>
          </a:p>
        </p:txBody>
      </p:sp>
      <p:sp>
        <p:nvSpPr>
          <p:cNvPr id="14" name="Shape 11"/>
          <p:cNvSpPr/>
          <p:nvPr/>
        </p:nvSpPr>
        <p:spPr>
          <a:xfrm>
            <a:off x="630936" y="4658868"/>
            <a:ext cx="256032" cy="256032"/>
          </a:xfrm>
          <a:prstGeom prst="ellipse">
            <a:avLst/>
          </a:prstGeom>
          <a:solidFill>
            <a:srgbClr val="2F6FB7"/>
          </a:solidFill>
          <a:ln/>
        </p:spPr>
        <p:txBody>
          <a:bodyPr/>
          <a:lstStyle/>
          <a:p>
            <a:endParaRPr lang="en-IN"/>
          </a:p>
        </p:txBody>
      </p:sp>
      <p:sp>
        <p:nvSpPr>
          <p:cNvPr id="15" name="Text 12"/>
          <p:cNvSpPr/>
          <p:nvPr/>
        </p:nvSpPr>
        <p:spPr>
          <a:xfrm>
            <a:off x="630936" y="465886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6" name="Text 13"/>
          <p:cNvSpPr/>
          <p:nvPr/>
        </p:nvSpPr>
        <p:spPr>
          <a:xfrm>
            <a:off x="960120" y="4498848"/>
            <a:ext cx="4754880" cy="576072"/>
          </a:xfrm>
          <a:prstGeom prst="rect">
            <a:avLst/>
          </a:prstGeom>
          <a:noFill/>
          <a:ln/>
        </p:spPr>
        <p:txBody>
          <a:bodyPr wrap="square" lIns="0" tIns="0" rIns="0" bIns="0" rtlCol="0" anchor="ctr"/>
          <a:lstStyle/>
          <a:p>
            <a:pPr marL="0" indent="0">
              <a:lnSpc>
                <a:spcPct val="102000"/>
              </a:lnSpc>
              <a:buNone/>
            </a:pPr>
            <a:r>
              <a:rPr lang="en-US" sz="970" dirty="0">
                <a:solidFill>
                  <a:srgbClr val="1B2430"/>
                </a:solidFill>
                <a:latin typeface="Calibri" pitchFamily="34" charset="0"/>
                <a:ea typeface="Calibri" pitchFamily="34" charset="-122"/>
                <a:cs typeface="Calibri" pitchFamily="34" charset="-120"/>
              </a:rPr>
              <a:t>Perspective Taking is the hardest EU category (GPT-4: 50.37% EN / 43.28% ZH) — a ToM-style skill.</a:t>
            </a:r>
            <a:endParaRPr lang="en-US" sz="970" dirty="0"/>
          </a:p>
        </p:txBody>
      </p:sp>
      <p:sp>
        <p:nvSpPr>
          <p:cNvPr id="17" name="Shape 14"/>
          <p:cNvSpPr/>
          <p:nvPr/>
        </p:nvSpPr>
        <p:spPr>
          <a:xfrm>
            <a:off x="502920" y="5157216"/>
            <a:ext cx="5349240" cy="576072"/>
          </a:xfrm>
          <a:prstGeom prst="roundRect">
            <a:avLst>
              <a:gd name="adj" fmla="val 9524"/>
            </a:avLst>
          </a:prstGeom>
          <a:solidFill>
            <a:srgbClr val="EAF1FB"/>
          </a:solidFill>
          <a:ln w="12700">
            <a:solidFill>
              <a:srgbClr val="C7D4E3"/>
            </a:solidFill>
            <a:prstDash val="solid"/>
          </a:ln>
        </p:spPr>
        <p:txBody>
          <a:bodyPr/>
          <a:lstStyle/>
          <a:p>
            <a:endParaRPr lang="en-IN"/>
          </a:p>
        </p:txBody>
      </p:sp>
      <p:sp>
        <p:nvSpPr>
          <p:cNvPr id="18" name="Shape 15"/>
          <p:cNvSpPr/>
          <p:nvPr/>
        </p:nvSpPr>
        <p:spPr>
          <a:xfrm>
            <a:off x="630936" y="5317236"/>
            <a:ext cx="256032" cy="256032"/>
          </a:xfrm>
          <a:prstGeom prst="ellipse">
            <a:avLst/>
          </a:prstGeom>
          <a:solidFill>
            <a:srgbClr val="2F6FB7"/>
          </a:solidFill>
          <a:ln/>
        </p:spPr>
        <p:txBody>
          <a:bodyPr/>
          <a:lstStyle/>
          <a:p>
            <a:endParaRPr lang="en-IN"/>
          </a:p>
        </p:txBody>
      </p:sp>
      <p:sp>
        <p:nvSpPr>
          <p:cNvPr id="19" name="Text 16"/>
          <p:cNvSpPr/>
          <p:nvPr/>
        </p:nvSpPr>
        <p:spPr>
          <a:xfrm>
            <a:off x="630936" y="531723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0" name="Text 17"/>
          <p:cNvSpPr/>
          <p:nvPr/>
        </p:nvSpPr>
        <p:spPr>
          <a:xfrm>
            <a:off x="960120" y="5157216"/>
            <a:ext cx="4754880" cy="576072"/>
          </a:xfrm>
          <a:prstGeom prst="rect">
            <a:avLst/>
          </a:prstGeom>
          <a:noFill/>
          <a:ln/>
        </p:spPr>
        <p:txBody>
          <a:bodyPr wrap="square" lIns="0" tIns="0" rIns="0" bIns="0" rtlCol="0" anchor="ctr"/>
          <a:lstStyle/>
          <a:p>
            <a:pPr marL="0" indent="0">
              <a:lnSpc>
                <a:spcPct val="102000"/>
              </a:lnSpc>
              <a:buNone/>
            </a:pPr>
            <a:r>
              <a:rPr lang="en-US" sz="970" dirty="0">
                <a:solidFill>
                  <a:srgbClr val="1B2430"/>
                </a:solidFill>
                <a:latin typeface="Calibri" pitchFamily="34" charset="0"/>
                <a:ea typeface="Calibri" pitchFamily="34" charset="-122"/>
                <a:cs typeface="Calibri" pitchFamily="34" charset="-120"/>
              </a:rPr>
              <a:t>Human evaluators outperform every LLM on both tasks (Fig. 5); GPT-4 is closest but still trails top humans.</a:t>
            </a:r>
            <a:endParaRPr lang="en-US" sz="970" dirty="0"/>
          </a:p>
        </p:txBody>
      </p:sp>
      <p:sp>
        <p:nvSpPr>
          <p:cNvPr id="21" name="Shape 18"/>
          <p:cNvSpPr/>
          <p:nvPr/>
        </p:nvSpPr>
        <p:spPr>
          <a:xfrm>
            <a:off x="6080760" y="1234440"/>
            <a:ext cx="2148840" cy="310896"/>
          </a:xfrm>
          <a:prstGeom prst="roundRect">
            <a:avLst>
              <a:gd name="adj" fmla="val 17647"/>
            </a:avLst>
          </a:prstGeom>
          <a:solidFill>
            <a:srgbClr val="C9821B"/>
          </a:solidFill>
          <a:ln/>
        </p:spPr>
        <p:txBody>
          <a:bodyPr/>
          <a:lstStyle/>
          <a:p>
            <a:endParaRPr lang="en-IN"/>
          </a:p>
        </p:txBody>
      </p:sp>
      <p:sp>
        <p:nvSpPr>
          <p:cNvPr id="22" name="Text 19"/>
          <p:cNvSpPr/>
          <p:nvPr/>
        </p:nvSpPr>
        <p:spPr>
          <a:xfrm>
            <a:off x="6080760" y="1234440"/>
            <a:ext cx="2148840"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Calibri" pitchFamily="34" charset="0"/>
                <a:ea typeface="Calibri" pitchFamily="34" charset="-122"/>
                <a:cs typeface="Calibri" pitchFamily="34" charset="-120"/>
              </a:rPr>
              <a:t>OUR EXPERIMENTAL RESULTS</a:t>
            </a:r>
            <a:endParaRPr lang="en-US" sz="1050" dirty="0"/>
          </a:p>
        </p:txBody>
      </p:sp>
      <p:sp>
        <p:nvSpPr>
          <p:cNvPr id="23" name="Text 20"/>
          <p:cNvSpPr/>
          <p:nvPr/>
        </p:nvSpPr>
        <p:spPr>
          <a:xfrm>
            <a:off x="6080760" y="1618488"/>
            <a:ext cx="1066190" cy="502920"/>
          </a:xfrm>
          <a:prstGeom prst="rect">
            <a:avLst/>
          </a:prstGeom>
          <a:noFill/>
          <a:ln/>
        </p:spPr>
        <p:txBody>
          <a:bodyPr wrap="square" lIns="0" tIns="0" rIns="0" bIns="0" rtlCol="0" anchor="t"/>
          <a:lstStyle/>
          <a:p>
            <a:pPr marL="0" indent="0" algn="l">
              <a:buNone/>
            </a:pPr>
            <a:r>
              <a:rPr lang="en-US" sz="750" b="1" dirty="0">
                <a:solidFill>
                  <a:srgbClr val="5B6B7C"/>
                </a:solidFill>
                <a:latin typeface="Calibri" pitchFamily="34" charset="0"/>
                <a:ea typeface="Calibri" pitchFamily="34" charset="-122"/>
                <a:cs typeface="Calibri" pitchFamily="34" charset="-120"/>
              </a:rPr>
              <a:t>MODEL
</a:t>
            </a:r>
            <a:r>
              <a:rPr lang="en-US" sz="860" b="1" dirty="0">
                <a:solidFill>
                  <a:srgbClr val="14315E"/>
                </a:solidFill>
                <a:latin typeface="Calibri" pitchFamily="34" charset="0"/>
                <a:ea typeface="Calibri" pitchFamily="34" charset="-122"/>
                <a:cs typeface="Calibri" pitchFamily="34" charset="-120"/>
              </a:rPr>
              <a:t>Qwen2.5-0.5B-Instruct</a:t>
            </a:r>
            <a:endParaRPr lang="en-US" sz="750" dirty="0"/>
          </a:p>
        </p:txBody>
      </p:sp>
      <p:sp>
        <p:nvSpPr>
          <p:cNvPr id="24" name="Text 21"/>
          <p:cNvSpPr/>
          <p:nvPr/>
        </p:nvSpPr>
        <p:spPr>
          <a:xfrm>
            <a:off x="7201814" y="1618488"/>
            <a:ext cx="1066190" cy="502920"/>
          </a:xfrm>
          <a:prstGeom prst="rect">
            <a:avLst/>
          </a:prstGeom>
          <a:noFill/>
          <a:ln/>
        </p:spPr>
        <p:txBody>
          <a:bodyPr wrap="square" lIns="0" tIns="0" rIns="0" bIns="0" rtlCol="0" anchor="t"/>
          <a:lstStyle/>
          <a:p>
            <a:pPr marL="0" indent="0" algn="l">
              <a:buNone/>
            </a:pPr>
            <a:r>
              <a:rPr lang="en-US" sz="750" b="1" dirty="0">
                <a:solidFill>
                  <a:srgbClr val="5B6B7C"/>
                </a:solidFill>
                <a:latin typeface="Calibri" pitchFamily="34" charset="0"/>
                <a:ea typeface="Calibri" pitchFamily="34" charset="-122"/>
                <a:cs typeface="Calibri" pitchFamily="34" charset="-120"/>
              </a:rPr>
              <a:t>TASK
</a:t>
            </a:r>
            <a:r>
              <a:rPr lang="en-US" sz="860" b="1" dirty="0">
                <a:solidFill>
                  <a:srgbClr val="14315E"/>
                </a:solidFill>
                <a:latin typeface="Calibri" pitchFamily="34" charset="0"/>
                <a:ea typeface="Calibri" pitchFamily="34" charset="-122"/>
                <a:cs typeface="Calibri" pitchFamily="34" charset="-120"/>
              </a:rPr>
              <a:t>Emotional Understanding</a:t>
            </a:r>
            <a:endParaRPr lang="en-US" sz="750" dirty="0"/>
          </a:p>
        </p:txBody>
      </p:sp>
      <p:sp>
        <p:nvSpPr>
          <p:cNvPr id="25" name="Text 22"/>
          <p:cNvSpPr/>
          <p:nvPr/>
        </p:nvSpPr>
        <p:spPr>
          <a:xfrm>
            <a:off x="8322869" y="1618488"/>
            <a:ext cx="1066190" cy="502920"/>
          </a:xfrm>
          <a:prstGeom prst="rect">
            <a:avLst/>
          </a:prstGeom>
          <a:noFill/>
          <a:ln/>
        </p:spPr>
        <p:txBody>
          <a:bodyPr wrap="square" lIns="0" tIns="0" rIns="0" bIns="0" rtlCol="0" anchor="t"/>
          <a:lstStyle/>
          <a:p>
            <a:pPr marL="0" indent="0" algn="l">
              <a:buNone/>
            </a:pPr>
            <a:r>
              <a:rPr lang="en-US" sz="750" b="1" dirty="0">
                <a:solidFill>
                  <a:srgbClr val="5B6B7C"/>
                </a:solidFill>
                <a:latin typeface="Calibri" pitchFamily="34" charset="0"/>
                <a:ea typeface="Calibri" pitchFamily="34" charset="-122"/>
                <a:cs typeface="Calibri" pitchFamily="34" charset="-120"/>
              </a:rPr>
              <a:t>LANGUAGE
</a:t>
            </a:r>
            <a:r>
              <a:rPr lang="en-US" sz="860" b="1" dirty="0">
                <a:solidFill>
                  <a:srgbClr val="14315E"/>
                </a:solidFill>
                <a:latin typeface="Calibri" pitchFamily="34" charset="0"/>
                <a:ea typeface="Calibri" pitchFamily="34" charset="-122"/>
                <a:cs typeface="Calibri" pitchFamily="34" charset="-120"/>
              </a:rPr>
              <a:t>English</a:t>
            </a:r>
            <a:endParaRPr lang="en-US" sz="750" dirty="0"/>
          </a:p>
        </p:txBody>
      </p:sp>
      <p:sp>
        <p:nvSpPr>
          <p:cNvPr id="26" name="Text 23"/>
          <p:cNvSpPr/>
          <p:nvPr/>
        </p:nvSpPr>
        <p:spPr>
          <a:xfrm>
            <a:off x="9443923" y="1618488"/>
            <a:ext cx="1066190" cy="502920"/>
          </a:xfrm>
          <a:prstGeom prst="rect">
            <a:avLst/>
          </a:prstGeom>
          <a:noFill/>
          <a:ln/>
        </p:spPr>
        <p:txBody>
          <a:bodyPr wrap="square" lIns="0" tIns="0" rIns="0" bIns="0" rtlCol="0" anchor="t"/>
          <a:lstStyle/>
          <a:p>
            <a:pPr marL="0" indent="0" algn="l">
              <a:buNone/>
            </a:pPr>
            <a:r>
              <a:rPr lang="en-US" sz="750" b="1" dirty="0">
                <a:solidFill>
                  <a:srgbClr val="5B6B7C"/>
                </a:solidFill>
                <a:latin typeface="Calibri" pitchFamily="34" charset="0"/>
                <a:ea typeface="Calibri" pitchFamily="34" charset="-122"/>
                <a:cs typeface="Calibri" pitchFamily="34" charset="-120"/>
              </a:rPr>
              <a:t>DEVICE
</a:t>
            </a:r>
            <a:r>
              <a:rPr lang="en-US" sz="860" b="1" dirty="0">
                <a:solidFill>
                  <a:srgbClr val="14315E"/>
                </a:solidFill>
                <a:latin typeface="Calibri" pitchFamily="34" charset="0"/>
                <a:ea typeface="Calibri" pitchFamily="34" charset="-122"/>
                <a:cs typeface="Calibri" pitchFamily="34" charset="-120"/>
              </a:rPr>
              <a:t>CPU</a:t>
            </a:r>
            <a:endParaRPr lang="en-US" sz="750" dirty="0"/>
          </a:p>
        </p:txBody>
      </p:sp>
      <p:sp>
        <p:nvSpPr>
          <p:cNvPr id="27" name="Text 24"/>
          <p:cNvSpPr/>
          <p:nvPr/>
        </p:nvSpPr>
        <p:spPr>
          <a:xfrm>
            <a:off x="10564978" y="1618488"/>
            <a:ext cx="1066190" cy="502920"/>
          </a:xfrm>
          <a:prstGeom prst="rect">
            <a:avLst/>
          </a:prstGeom>
          <a:noFill/>
          <a:ln/>
        </p:spPr>
        <p:txBody>
          <a:bodyPr wrap="square" lIns="0" tIns="0" rIns="0" bIns="0" rtlCol="0" anchor="t"/>
          <a:lstStyle/>
          <a:p>
            <a:pPr marL="0" indent="0" algn="l">
              <a:buNone/>
            </a:pPr>
            <a:r>
              <a:rPr lang="en-US" sz="750" b="1" dirty="0">
                <a:solidFill>
                  <a:srgbClr val="5B6B7C"/>
                </a:solidFill>
                <a:latin typeface="Calibri" pitchFamily="34" charset="0"/>
                <a:ea typeface="Calibri" pitchFamily="34" charset="-122"/>
                <a:cs typeface="Calibri" pitchFamily="34" charset="-120"/>
              </a:rPr>
              <a:t>DATASET
</a:t>
            </a:r>
            <a:r>
              <a:rPr lang="en-US" sz="860" b="1" dirty="0">
                <a:solidFill>
                  <a:srgbClr val="14315E"/>
                </a:solidFill>
                <a:latin typeface="Calibri" pitchFamily="34" charset="0"/>
                <a:ea typeface="Calibri" pitchFamily="34" charset="-122"/>
                <a:cs typeface="Calibri" pitchFamily="34" charset="-120"/>
              </a:rPr>
              <a:t>200 Samples</a:t>
            </a:r>
            <a:endParaRPr lang="en-US" sz="750" dirty="0"/>
          </a:p>
        </p:txBody>
      </p:sp>
      <p:graphicFrame>
        <p:nvGraphicFramePr>
          <p:cNvPr id="28" name="Chart 0"/>
          <p:cNvGraphicFramePr/>
          <p:nvPr/>
        </p:nvGraphicFramePr>
        <p:xfrm>
          <a:off x="6080760" y="2194560"/>
          <a:ext cx="5605272"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29" name="Shape 25"/>
          <p:cNvSpPr/>
          <p:nvPr/>
        </p:nvSpPr>
        <p:spPr>
          <a:xfrm>
            <a:off x="6080760" y="4416552"/>
            <a:ext cx="1691640" cy="658368"/>
          </a:xfrm>
          <a:prstGeom prst="roundRect">
            <a:avLst>
              <a:gd name="adj" fmla="val 9722"/>
            </a:avLst>
          </a:prstGeom>
          <a:solidFill>
            <a:srgbClr val="14315E"/>
          </a:solidFill>
          <a:ln/>
        </p:spPr>
        <p:txBody>
          <a:bodyPr/>
          <a:lstStyle/>
          <a:p>
            <a:endParaRPr lang="en-IN"/>
          </a:p>
        </p:txBody>
      </p:sp>
      <p:sp>
        <p:nvSpPr>
          <p:cNvPr id="30" name="Text 26"/>
          <p:cNvSpPr/>
          <p:nvPr/>
        </p:nvSpPr>
        <p:spPr>
          <a:xfrm>
            <a:off x="6080760" y="4453128"/>
            <a:ext cx="1691640" cy="347472"/>
          </a:xfrm>
          <a:prstGeom prst="rect">
            <a:avLst/>
          </a:prstGeom>
          <a:noFill/>
          <a:ln/>
        </p:spPr>
        <p:txBody>
          <a:bodyPr wrap="square" lIns="0" tIns="0" rIns="0" bIns="0" rtlCol="0" anchor="ctr"/>
          <a:lstStyle/>
          <a:p>
            <a:pPr marL="0" indent="0" algn="ctr">
              <a:buNone/>
            </a:pPr>
            <a:r>
              <a:rPr lang="en-US" sz="1800" b="1" dirty="0">
                <a:solidFill>
                  <a:srgbClr val="C9821B"/>
                </a:solidFill>
                <a:latin typeface="Cambria" pitchFamily="34" charset="0"/>
                <a:ea typeface="Cambria" pitchFamily="34" charset="-122"/>
                <a:cs typeface="Cambria" pitchFamily="34" charset="-120"/>
              </a:rPr>
              <a:t>8.50%</a:t>
            </a:r>
            <a:endParaRPr lang="en-US" sz="1800" dirty="0"/>
          </a:p>
        </p:txBody>
      </p:sp>
      <p:sp>
        <p:nvSpPr>
          <p:cNvPr id="31" name="Text 27"/>
          <p:cNvSpPr/>
          <p:nvPr/>
        </p:nvSpPr>
        <p:spPr>
          <a:xfrm>
            <a:off x="6080760" y="4800600"/>
            <a:ext cx="1691640"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Overall Accuracy</a:t>
            </a:r>
            <a:endParaRPr lang="en-US" sz="850" dirty="0"/>
          </a:p>
        </p:txBody>
      </p:sp>
      <p:sp>
        <p:nvSpPr>
          <p:cNvPr id="32" name="Text 28"/>
          <p:cNvSpPr/>
          <p:nvPr/>
        </p:nvSpPr>
        <p:spPr>
          <a:xfrm>
            <a:off x="7891272" y="4526280"/>
            <a:ext cx="3794760" cy="457200"/>
          </a:xfrm>
          <a:prstGeom prst="rect">
            <a:avLst/>
          </a:prstGeom>
          <a:noFill/>
          <a:ln/>
        </p:spPr>
        <p:txBody>
          <a:bodyPr wrap="square" lIns="0" tIns="0" rIns="0" bIns="0" rtlCol="0" anchor="ctr"/>
          <a:lstStyle/>
          <a:p>
            <a:pPr marL="0" indent="0">
              <a:buNone/>
            </a:pPr>
            <a:r>
              <a:rPr lang="en-US" sz="900" i="1" dirty="0">
                <a:solidFill>
                  <a:srgbClr val="5B6B7C"/>
                </a:solidFill>
                <a:latin typeface="Calibri" pitchFamily="34" charset="0"/>
                <a:ea typeface="Calibri" pitchFamily="34" charset="-122"/>
                <a:cs typeface="Calibri" pitchFamily="34" charset="-120"/>
              </a:rPr>
              <a:t>Output files: leaderboard.json  ·  predictions_EU_en.jsonl</a:t>
            </a:r>
            <a:endParaRPr lang="en-US" sz="900" dirty="0"/>
          </a:p>
        </p:txBody>
      </p:sp>
      <p:sp>
        <p:nvSpPr>
          <p:cNvPr id="43" name="Shape 39"/>
          <p:cNvSpPr/>
          <p:nvPr/>
        </p:nvSpPr>
        <p:spPr>
          <a:xfrm>
            <a:off x="457200" y="6053328"/>
            <a:ext cx="11274552" cy="384048"/>
          </a:xfrm>
          <a:prstGeom prst="roundRect">
            <a:avLst>
              <a:gd name="adj" fmla="val 16667"/>
            </a:avLst>
          </a:prstGeom>
          <a:solidFill>
            <a:srgbClr val="D7E6F7"/>
          </a:solidFill>
          <a:ln w="12700">
            <a:solidFill>
              <a:srgbClr val="2F6FB7"/>
            </a:solidFill>
            <a:prstDash val="solid"/>
          </a:ln>
        </p:spPr>
        <p:txBody>
          <a:bodyPr/>
          <a:lstStyle/>
          <a:p>
            <a:endParaRPr lang="en-IN"/>
          </a:p>
        </p:txBody>
      </p:sp>
      <p:sp>
        <p:nvSpPr>
          <p:cNvPr id="44" name="Text 40"/>
          <p:cNvSpPr/>
          <p:nvPr/>
        </p:nvSpPr>
        <p:spPr>
          <a:xfrm>
            <a:off x="594360" y="6044184"/>
            <a:ext cx="10972800" cy="384048"/>
          </a:xfrm>
          <a:prstGeom prst="rect">
            <a:avLst/>
          </a:prstGeom>
          <a:noFill/>
          <a:ln/>
        </p:spPr>
        <p:txBody>
          <a:bodyPr wrap="square" lIns="0" tIns="0" rIns="0" bIns="0" rtlCol="0" anchor="ctr"/>
          <a:lstStyle/>
          <a:p>
            <a:pPr marL="0" indent="0">
              <a:buNone/>
            </a:pPr>
            <a:r>
              <a:rPr lang="en-US" sz="1100" b="1" dirty="0">
                <a:solidFill>
                  <a:srgbClr val="C9821B"/>
                </a:solidFill>
                <a:latin typeface="Calibri" pitchFamily="34" charset="0"/>
                <a:ea typeface="Calibri" pitchFamily="34" charset="-122"/>
                <a:cs typeface="Calibri" pitchFamily="34" charset="-120"/>
              </a:rPr>
              <a:t>KEY TAKEAWAY:  </a:t>
            </a:r>
            <a:r>
              <a:rPr lang="en-US" sz="1100" dirty="0">
                <a:solidFill>
                  <a:srgbClr val="14315E"/>
                </a:solidFill>
                <a:latin typeface="Calibri" pitchFamily="34" charset="0"/>
                <a:ea typeface="Calibri" pitchFamily="34" charset="-122"/>
                <a:cs typeface="Calibri" pitchFamily="34" charset="-120"/>
              </a:rPr>
              <a:t>Our lightweight CPU run (8.50% overall) sits far below GPT-4, consistent with the paper's model-scaling trend.</a:t>
            </a:r>
            <a:endParaRPr lang="en-US" sz="1100" dirty="0"/>
          </a:p>
        </p:txBody>
      </p:sp>
      <p:sp>
        <p:nvSpPr>
          <p:cNvPr id="46" name="Text 42"/>
          <p:cNvSpPr/>
          <p:nvPr/>
        </p:nvSpPr>
        <p:spPr>
          <a:xfrm>
            <a:off x="11457432" y="6528816"/>
            <a:ext cx="274320" cy="237744"/>
          </a:xfrm>
          <a:prstGeom prst="rect">
            <a:avLst/>
          </a:prstGeom>
          <a:noFill/>
          <a:ln/>
        </p:spPr>
        <p:txBody>
          <a:bodyPr wrap="square" lIns="0" tIns="0" rIns="0" bIns="0" rtlCol="0" anchor="ctr"/>
          <a:lstStyle/>
          <a:p>
            <a:pPr marL="0" indent="0" algn="r">
              <a:buNone/>
            </a:pPr>
            <a:r>
              <a:rPr lang="en-US" sz="850" dirty="0">
                <a:solidFill>
                  <a:srgbClr val="5B6B7C"/>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ctr"/>
          <a:lstStyle/>
          <a:p>
            <a:pPr marL="0" indent="0">
              <a:buNone/>
            </a:pPr>
            <a:r>
              <a:rPr lang="en-US" sz="2500" b="1" dirty="0">
                <a:solidFill>
                  <a:srgbClr val="14315E"/>
                </a:solidFill>
                <a:latin typeface="Cambria" pitchFamily="34" charset="0"/>
                <a:ea typeface="Cambria" pitchFamily="34" charset="-122"/>
                <a:cs typeface="Cambria" pitchFamily="34" charset="-120"/>
              </a:rPr>
              <a:t>Appendix — Backup for Q&amp;A</a:t>
            </a:r>
            <a:endParaRPr lang="en-US" sz="2500" dirty="0"/>
          </a:p>
        </p:txBody>
      </p:sp>
      <p:sp>
        <p:nvSpPr>
          <p:cNvPr id="3" name="Text 1"/>
          <p:cNvSpPr/>
          <p:nvPr/>
        </p:nvSpPr>
        <p:spPr>
          <a:xfrm>
            <a:off x="475488" y="777240"/>
            <a:ext cx="11247120" cy="292608"/>
          </a:xfrm>
          <a:prstGeom prst="rect">
            <a:avLst/>
          </a:prstGeom>
          <a:noFill/>
          <a:ln/>
        </p:spPr>
        <p:txBody>
          <a:bodyPr wrap="square" lIns="0" tIns="0" rIns="0" bIns="0" rtlCol="0" anchor="ctr"/>
          <a:lstStyle/>
          <a:p>
            <a:pPr marL="0" indent="0">
              <a:buNone/>
            </a:pPr>
            <a:r>
              <a:rPr lang="en-US" sz="1150" i="1" dirty="0">
                <a:solidFill>
                  <a:srgbClr val="5B6B7C"/>
                </a:solidFill>
                <a:latin typeface="Calibri" pitchFamily="34" charset="0"/>
                <a:ea typeface="Calibri" pitchFamily="34" charset="-122"/>
                <a:cs typeface="Calibri" pitchFamily="34" charset="-120"/>
              </a:rPr>
              <a:t>Our Output, execution command, model configuration</a:t>
            </a:r>
            <a:endParaRPr lang="en-US" sz="1150" dirty="0"/>
          </a:p>
        </p:txBody>
      </p:sp>
      <p:sp>
        <p:nvSpPr>
          <p:cNvPr id="4" name="Shape 2"/>
          <p:cNvSpPr/>
          <p:nvPr/>
        </p:nvSpPr>
        <p:spPr>
          <a:xfrm>
            <a:off x="3901900" y="1202436"/>
            <a:ext cx="1792224" cy="420624"/>
          </a:xfrm>
          <a:prstGeom prst="roundRect">
            <a:avLst>
              <a:gd name="adj" fmla="val 17647"/>
            </a:avLst>
          </a:prstGeom>
          <a:solidFill>
            <a:srgbClr val="C9821B"/>
          </a:solidFill>
          <a:ln/>
        </p:spPr>
        <p:txBody>
          <a:bodyPr/>
          <a:lstStyle/>
          <a:p>
            <a:endParaRPr lang="en-IN"/>
          </a:p>
        </p:txBody>
      </p:sp>
      <p:sp>
        <p:nvSpPr>
          <p:cNvPr id="5" name="Text 3"/>
          <p:cNvSpPr/>
          <p:nvPr/>
        </p:nvSpPr>
        <p:spPr>
          <a:xfrm>
            <a:off x="3975052" y="1252728"/>
            <a:ext cx="1719072" cy="301752"/>
          </a:xfrm>
          <a:prstGeom prst="rect">
            <a:avLst/>
          </a:prstGeom>
          <a:noFill/>
          <a:ln/>
        </p:spPr>
        <p:txBody>
          <a:bodyPr wrap="square" lIns="0" tIns="0" rIns="0" bIns="0" rtlCol="0" anchor="ctr"/>
          <a:lstStyle/>
          <a:p>
            <a:pPr marL="0" indent="0" algn="ctr">
              <a:buNone/>
            </a:pPr>
            <a:r>
              <a:rPr lang="en-US" sz="1600" b="1" kern="0" spc="100" dirty="0">
                <a:solidFill>
                  <a:srgbClr val="FFFFFF"/>
                </a:solidFill>
                <a:latin typeface="Calibri" pitchFamily="34" charset="0"/>
                <a:ea typeface="Calibri" pitchFamily="34" charset="-122"/>
                <a:cs typeface="Calibri" pitchFamily="34" charset="-120"/>
              </a:rPr>
              <a:t>OUR</a:t>
            </a:r>
            <a:r>
              <a:rPr lang="en-US" sz="1050" b="1" kern="0" spc="100" dirty="0">
                <a:solidFill>
                  <a:srgbClr val="FFFFFF"/>
                </a:solidFill>
                <a:latin typeface="Calibri" pitchFamily="34" charset="0"/>
                <a:ea typeface="Calibri" pitchFamily="34" charset="-122"/>
                <a:cs typeface="Calibri" pitchFamily="34" charset="-120"/>
              </a:rPr>
              <a:t> </a:t>
            </a:r>
            <a:r>
              <a:rPr lang="en-US" sz="1600" b="1" kern="0" spc="100" dirty="0">
                <a:solidFill>
                  <a:srgbClr val="FFFFFF"/>
                </a:solidFill>
                <a:latin typeface="Calibri" pitchFamily="34" charset="0"/>
                <a:ea typeface="Calibri" pitchFamily="34" charset="-122"/>
                <a:cs typeface="Calibri" pitchFamily="34" charset="-120"/>
              </a:rPr>
              <a:t>OUTPUT</a:t>
            </a:r>
            <a:endParaRPr lang="en-US" sz="1600" dirty="0"/>
          </a:p>
        </p:txBody>
      </p:sp>
      <p:sp>
        <p:nvSpPr>
          <p:cNvPr id="9" name="Shape 7"/>
          <p:cNvSpPr/>
          <p:nvPr/>
        </p:nvSpPr>
        <p:spPr>
          <a:xfrm>
            <a:off x="152619" y="4554533"/>
            <a:ext cx="4160520" cy="777240"/>
          </a:xfrm>
          <a:prstGeom prst="roundRect">
            <a:avLst>
              <a:gd name="adj" fmla="val 8235"/>
            </a:avLst>
          </a:prstGeom>
          <a:solidFill>
            <a:srgbClr val="14315E"/>
          </a:solidFill>
          <a:ln/>
        </p:spPr>
        <p:txBody>
          <a:bodyPr/>
          <a:lstStyle/>
          <a:p>
            <a:endParaRPr lang="en-IN"/>
          </a:p>
        </p:txBody>
      </p:sp>
      <p:sp>
        <p:nvSpPr>
          <p:cNvPr id="10" name="Text 8"/>
          <p:cNvSpPr/>
          <p:nvPr/>
        </p:nvSpPr>
        <p:spPr>
          <a:xfrm>
            <a:off x="398667" y="4581965"/>
            <a:ext cx="3886200" cy="219456"/>
          </a:xfrm>
          <a:prstGeom prst="rect">
            <a:avLst/>
          </a:prstGeom>
          <a:noFill/>
          <a:ln/>
        </p:spPr>
        <p:txBody>
          <a:bodyPr wrap="square" lIns="0" tIns="0" rIns="0" bIns="0" rtlCol="0" anchor="ctr"/>
          <a:lstStyle/>
          <a:p>
            <a:pPr marL="0" indent="0">
              <a:buNone/>
            </a:pPr>
            <a:r>
              <a:rPr lang="en-US" sz="950" b="1" dirty="0">
                <a:solidFill>
                  <a:srgbClr val="9CC1F0"/>
                </a:solidFill>
                <a:latin typeface="Calibri" pitchFamily="34" charset="0"/>
                <a:ea typeface="Calibri" pitchFamily="34" charset="-122"/>
                <a:cs typeface="Calibri" pitchFamily="34" charset="-120"/>
              </a:rPr>
              <a:t>Execution Command</a:t>
            </a:r>
            <a:endParaRPr lang="en-US" sz="950" dirty="0"/>
          </a:p>
        </p:txBody>
      </p:sp>
      <p:sp>
        <p:nvSpPr>
          <p:cNvPr id="11" name="Text 9"/>
          <p:cNvSpPr/>
          <p:nvPr/>
        </p:nvSpPr>
        <p:spPr>
          <a:xfrm>
            <a:off x="310896" y="4810565"/>
            <a:ext cx="3886200" cy="457200"/>
          </a:xfrm>
          <a:prstGeom prst="rect">
            <a:avLst/>
          </a:prstGeom>
          <a:noFill/>
          <a:ln/>
        </p:spPr>
        <p:txBody>
          <a:bodyPr wrap="square" lIns="0" tIns="0" rIns="0" bIns="0" rtlCol="0" anchor="ctr"/>
          <a:lstStyle/>
          <a:p>
            <a:pPr marL="0" indent="0">
              <a:lnSpc>
                <a:spcPct val="105000"/>
              </a:lnSpc>
              <a:buNone/>
            </a:pPr>
            <a:r>
              <a:rPr lang="en-US" sz="870" dirty="0">
                <a:solidFill>
                  <a:srgbClr val="8FE3A0"/>
                </a:solidFill>
                <a:latin typeface="Courier New" pitchFamily="34" charset="0"/>
                <a:ea typeface="Courier New" pitchFamily="34" charset="-122"/>
                <a:cs typeface="Courier New" pitchFamily="34" charset="-120"/>
              </a:rPr>
              <a:t>python src/main.py --model_type HF \</a:t>
            </a:r>
            <a:endParaRPr lang="en-US" sz="870" dirty="0"/>
          </a:p>
          <a:p>
            <a:pPr marL="0" indent="0">
              <a:lnSpc>
                <a:spcPct val="105000"/>
              </a:lnSpc>
              <a:buNone/>
            </a:pPr>
            <a:r>
              <a:rPr lang="en-US" sz="870" dirty="0">
                <a:solidFill>
                  <a:srgbClr val="8FE3A0"/>
                </a:solidFill>
                <a:latin typeface="Courier New" pitchFamily="34" charset="0"/>
                <a:ea typeface="Courier New" pitchFamily="34" charset="-122"/>
                <a:cs typeface="Courier New" pitchFamily="34" charset="-120"/>
              </a:rPr>
              <a:t>  --model_path Qwen/Qwen2.5-0.5B-Instruct \</a:t>
            </a:r>
            <a:endParaRPr lang="en-US" sz="870" dirty="0"/>
          </a:p>
          <a:p>
            <a:pPr marL="0" indent="0">
              <a:lnSpc>
                <a:spcPct val="105000"/>
              </a:lnSpc>
              <a:buNone/>
            </a:pPr>
            <a:r>
              <a:rPr lang="en-US" sz="870" dirty="0">
                <a:solidFill>
                  <a:srgbClr val="8FE3A0"/>
                </a:solidFill>
                <a:latin typeface="Courier New" pitchFamily="34" charset="0"/>
                <a:ea typeface="Courier New" pitchFamily="34" charset="-122"/>
                <a:cs typeface="Courier New" pitchFamily="34" charset="-120"/>
              </a:rPr>
              <a:t>  --lang en --task EU --device -1</a:t>
            </a:r>
            <a:endParaRPr lang="en-US" sz="870" dirty="0"/>
          </a:p>
        </p:txBody>
      </p:sp>
      <p:sp>
        <p:nvSpPr>
          <p:cNvPr id="12" name="Text 10"/>
          <p:cNvSpPr/>
          <p:nvPr/>
        </p:nvSpPr>
        <p:spPr>
          <a:xfrm>
            <a:off x="9289614" y="1481328"/>
            <a:ext cx="3246120" cy="274320"/>
          </a:xfrm>
          <a:prstGeom prst="rect">
            <a:avLst/>
          </a:prstGeom>
          <a:noFill/>
          <a:ln/>
        </p:spPr>
        <p:txBody>
          <a:bodyPr wrap="square" lIns="0" tIns="0" rIns="0" bIns="0" rtlCol="0" anchor="ctr"/>
          <a:lstStyle/>
          <a:p>
            <a:pPr marL="0" indent="0">
              <a:buNone/>
            </a:pPr>
            <a:r>
              <a:rPr lang="en-US" sz="1300" b="1" dirty="0">
                <a:solidFill>
                  <a:srgbClr val="14315E"/>
                </a:solidFill>
                <a:latin typeface="Cambria" pitchFamily="34" charset="0"/>
                <a:ea typeface="Cambria" pitchFamily="34" charset="-122"/>
                <a:cs typeface="Cambria" pitchFamily="34" charset="-120"/>
              </a:rPr>
              <a:t>Model Configuration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3444369415"/>
              </p:ext>
            </p:extLst>
          </p:nvPr>
        </p:nvGraphicFramePr>
        <p:xfrm>
          <a:off x="8485632" y="1855525"/>
          <a:ext cx="3246120" cy="2236954"/>
        </p:xfrm>
        <a:graphic>
          <a:graphicData uri="http://schemas.openxmlformats.org/drawingml/2006/table">
            <a:tbl>
              <a:tblPr/>
              <a:tblGrid>
                <a:gridCol w="137160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tblGrid>
              <a:tr h="0">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Parameter</a:t>
                      </a:r>
                      <a:endParaRPr lang="en-US" sz="95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14315E"/>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14315E"/>
                    </a:solidFill>
                  </a:tcPr>
                </a:tc>
                <a:extLst>
                  <a:ext uri="{0D108BD9-81ED-4DB2-BD59-A6C34878D82A}">
                    <a16:rowId xmlns:a16="http://schemas.microsoft.com/office/drawing/2014/main" val="10000"/>
                  </a:ext>
                </a:extLst>
              </a:tr>
              <a:tr h="285750">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Model</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Qwen/Qwen2.5-0.5B-Instruct</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extLst>
                  <a:ext uri="{0D108BD9-81ED-4DB2-BD59-A6C34878D82A}">
                    <a16:rowId xmlns:a16="http://schemas.microsoft.com/office/drawing/2014/main" val="10001"/>
                  </a:ext>
                </a:extLst>
              </a:tr>
              <a:tr h="285750">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Parameters</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0.5B</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5750">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Backend</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Hugging Face Transformers</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extLst>
                  <a:ext uri="{0D108BD9-81ED-4DB2-BD59-A6C34878D82A}">
                    <a16:rowId xmlns:a16="http://schemas.microsoft.com/office/drawing/2014/main" val="10003"/>
                  </a:ext>
                </a:extLst>
              </a:tr>
              <a:tr h="286234">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Device</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CPU (device = -1)</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5750">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Task</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Emotional Understanding (EU)</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extLst>
                  <a:ext uri="{0D108BD9-81ED-4DB2-BD59-A6C34878D82A}">
                    <a16:rowId xmlns:a16="http://schemas.microsoft.com/office/drawing/2014/main" val="10005"/>
                  </a:ext>
                </a:extLst>
              </a:tr>
              <a:tr h="285750">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Language</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English</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5750">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Dataset size</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tc>
                  <a:txBody>
                    <a:bodyPr/>
                    <a:lstStyle/>
                    <a:p>
                      <a:pPr marL="0" indent="0" algn="l">
                        <a:buNone/>
                      </a:pPr>
                      <a:r>
                        <a:rPr lang="en-US" sz="930" dirty="0">
                          <a:solidFill>
                            <a:srgbClr val="1B2430"/>
                          </a:solidFill>
                          <a:latin typeface="Calibri" pitchFamily="34" charset="0"/>
                          <a:ea typeface="Calibri" pitchFamily="34" charset="-122"/>
                          <a:cs typeface="Calibri" pitchFamily="34" charset="-120"/>
                        </a:rPr>
                        <a:t>200 samples</a:t>
                      </a:r>
                      <a:endParaRPr lang="en-US" sz="930" dirty="0">
                        <a:latin typeface="Calibri" charset="0"/>
                        <a:ea typeface="Calibri" charset="0"/>
                        <a:cs typeface="Calibri" charset="0"/>
                      </a:endParaRPr>
                    </a:p>
                  </a:txBody>
                  <a:tcPr anchor="ctr">
                    <a:lnL w="9525" cap="flat" cmpd="sng" algn="ctr">
                      <a:solidFill>
                        <a:srgbClr val="C7D4E3"/>
                      </a:solidFill>
                      <a:prstDash val="solid"/>
                      <a:round/>
                      <a:headEnd type="none" w="med" len="med"/>
                      <a:tailEnd type="none" w="med" len="med"/>
                    </a:lnL>
                    <a:lnR w="9525" cap="flat" cmpd="sng" algn="ctr">
                      <a:solidFill>
                        <a:srgbClr val="C7D4E3"/>
                      </a:solidFill>
                      <a:prstDash val="solid"/>
                      <a:round/>
                      <a:headEnd type="none" w="med" len="med"/>
                      <a:tailEnd type="none" w="med" len="med"/>
                    </a:lnR>
                    <a:lnT w="9525" cap="flat" cmpd="sng" algn="ctr">
                      <a:solidFill>
                        <a:srgbClr val="C7D4E3"/>
                      </a:solidFill>
                      <a:prstDash val="solid"/>
                      <a:round/>
                      <a:headEnd type="none" w="med" len="med"/>
                      <a:tailEnd type="none" w="med" len="med"/>
                    </a:lnT>
                    <a:lnB w="9525" cap="flat" cmpd="sng" algn="ctr">
                      <a:solidFill>
                        <a:srgbClr val="C7D4E3"/>
                      </a:solidFill>
                      <a:prstDash val="solid"/>
                      <a:round/>
                      <a:headEnd type="none" w="med" len="med"/>
                      <a:tailEnd type="none" w="med" len="med"/>
                    </a:lnB>
                    <a:solidFill>
                      <a:srgbClr val="EAF1FB"/>
                    </a:solidFill>
                  </a:tcPr>
                </a:tc>
                <a:extLst>
                  <a:ext uri="{0D108BD9-81ED-4DB2-BD59-A6C34878D82A}">
                    <a16:rowId xmlns:a16="http://schemas.microsoft.com/office/drawing/2014/main" val="10007"/>
                  </a:ext>
                </a:extLst>
              </a:tr>
            </a:tbl>
          </a:graphicData>
        </a:graphic>
      </p:graphicFrame>
      <p:sp>
        <p:nvSpPr>
          <p:cNvPr id="17" name="Text 14"/>
          <p:cNvSpPr/>
          <p:nvPr/>
        </p:nvSpPr>
        <p:spPr>
          <a:xfrm>
            <a:off x="9167119" y="2070862"/>
            <a:ext cx="310896" cy="310896"/>
          </a:xfrm>
          <a:prstGeom prst="rect">
            <a:avLst/>
          </a:prstGeom>
          <a:noFill/>
          <a:ln/>
        </p:spPr>
        <p:txBody>
          <a:bodyPr wrap="square" lIns="0" tIns="0" rIns="0" bIns="0" rtlCol="0" anchor="ctr"/>
          <a:lstStyle/>
          <a:p>
            <a:pPr marL="0" indent="0" algn="ctr">
              <a:buNone/>
            </a:pPr>
            <a:endParaRPr lang="en-US" sz="1200" dirty="0"/>
          </a:p>
        </p:txBody>
      </p:sp>
      <p:sp>
        <p:nvSpPr>
          <p:cNvPr id="18" name="Text 15"/>
          <p:cNvSpPr/>
          <p:nvPr/>
        </p:nvSpPr>
        <p:spPr>
          <a:xfrm>
            <a:off x="8878824" y="1956816"/>
            <a:ext cx="2679192" cy="512064"/>
          </a:xfrm>
          <a:prstGeom prst="rect">
            <a:avLst/>
          </a:prstGeom>
          <a:noFill/>
          <a:ln/>
        </p:spPr>
        <p:txBody>
          <a:bodyPr wrap="square" lIns="0" tIns="0" rIns="0" bIns="0" rtlCol="0" anchor="ctr"/>
          <a:lstStyle/>
          <a:p>
            <a:pPr marL="0" indent="0">
              <a:buNone/>
            </a:pPr>
            <a:endParaRPr lang="en-US" sz="980" dirty="0"/>
          </a:p>
        </p:txBody>
      </p:sp>
      <p:sp>
        <p:nvSpPr>
          <p:cNvPr id="25" name="Text 22"/>
          <p:cNvSpPr/>
          <p:nvPr/>
        </p:nvSpPr>
        <p:spPr>
          <a:xfrm>
            <a:off x="8485632" y="3264408"/>
            <a:ext cx="310896" cy="310896"/>
          </a:xfrm>
          <a:prstGeom prst="rect">
            <a:avLst/>
          </a:prstGeom>
          <a:noFill/>
          <a:ln/>
        </p:spPr>
        <p:txBody>
          <a:bodyPr wrap="square" lIns="0" tIns="0" rIns="0" bIns="0" rtlCol="0" anchor="ctr"/>
          <a:lstStyle/>
          <a:p>
            <a:pPr marL="0" indent="0" algn="ctr">
              <a:buNone/>
            </a:pPr>
            <a:endParaRPr lang="en-US" sz="1200" dirty="0"/>
          </a:p>
        </p:txBody>
      </p:sp>
      <p:sp>
        <p:nvSpPr>
          <p:cNvPr id="29" name="Text 26"/>
          <p:cNvSpPr/>
          <p:nvPr/>
        </p:nvSpPr>
        <p:spPr>
          <a:xfrm>
            <a:off x="8485632" y="3867912"/>
            <a:ext cx="310896" cy="310896"/>
          </a:xfrm>
          <a:prstGeom prst="rect">
            <a:avLst/>
          </a:prstGeom>
          <a:noFill/>
          <a:ln/>
        </p:spPr>
        <p:txBody>
          <a:bodyPr wrap="square" lIns="0" tIns="0" rIns="0" bIns="0" rtlCol="0" anchor="ctr"/>
          <a:lstStyle/>
          <a:p>
            <a:pPr marL="0" indent="0" algn="ctr">
              <a:buNone/>
            </a:pPr>
            <a:endParaRPr lang="en-US" sz="1200" dirty="0"/>
          </a:p>
        </p:txBody>
      </p:sp>
      <p:sp>
        <p:nvSpPr>
          <p:cNvPr id="32" name="Shape 29"/>
          <p:cNvSpPr/>
          <p:nvPr/>
        </p:nvSpPr>
        <p:spPr>
          <a:xfrm>
            <a:off x="457200" y="6053328"/>
            <a:ext cx="11274552" cy="384048"/>
          </a:xfrm>
          <a:prstGeom prst="roundRect">
            <a:avLst>
              <a:gd name="adj" fmla="val 16667"/>
            </a:avLst>
          </a:prstGeom>
          <a:solidFill>
            <a:srgbClr val="D7E6F7"/>
          </a:solidFill>
          <a:ln w="12700">
            <a:solidFill>
              <a:srgbClr val="2F6FB7"/>
            </a:solidFill>
            <a:prstDash val="solid"/>
          </a:ln>
        </p:spPr>
        <p:txBody>
          <a:bodyPr/>
          <a:lstStyle/>
          <a:p>
            <a:endParaRPr lang="en-IN"/>
          </a:p>
        </p:txBody>
      </p:sp>
      <p:sp>
        <p:nvSpPr>
          <p:cNvPr id="33" name="Text 30"/>
          <p:cNvSpPr/>
          <p:nvPr/>
        </p:nvSpPr>
        <p:spPr>
          <a:xfrm>
            <a:off x="621792" y="6053328"/>
            <a:ext cx="10972800" cy="384048"/>
          </a:xfrm>
          <a:prstGeom prst="rect">
            <a:avLst/>
          </a:prstGeom>
          <a:noFill/>
          <a:ln/>
        </p:spPr>
        <p:txBody>
          <a:bodyPr wrap="square" lIns="0" tIns="0" rIns="0" bIns="0" rtlCol="0" anchor="ctr"/>
          <a:lstStyle/>
          <a:p>
            <a:pPr marL="0" indent="0">
              <a:buNone/>
            </a:pPr>
            <a:r>
              <a:rPr lang="en-US" sz="1100" b="1" dirty="0">
                <a:solidFill>
                  <a:srgbClr val="C9821B"/>
                </a:solidFill>
                <a:latin typeface="Calibri" pitchFamily="34" charset="0"/>
                <a:ea typeface="Calibri" pitchFamily="34" charset="-122"/>
                <a:cs typeface="Calibri" pitchFamily="34" charset="-120"/>
              </a:rPr>
              <a:t>KEY TAKEAWAY:  </a:t>
            </a:r>
            <a:r>
              <a:rPr lang="en-US" sz="1100" dirty="0">
                <a:solidFill>
                  <a:srgbClr val="14315E"/>
                </a:solidFill>
                <a:latin typeface="Calibri" pitchFamily="34" charset="0"/>
                <a:ea typeface="Calibri" pitchFamily="34" charset="-122"/>
                <a:cs typeface="Calibri" pitchFamily="34" charset="-120"/>
              </a:rPr>
              <a:t>Everything needed to re-run this evaluation — command, config, and environment — is fully reproducible on CPU.</a:t>
            </a:r>
            <a:endParaRPr lang="en-US" sz="1100" dirty="0"/>
          </a:p>
        </p:txBody>
      </p:sp>
      <p:sp>
        <p:nvSpPr>
          <p:cNvPr id="35" name="Text 32"/>
          <p:cNvSpPr/>
          <p:nvPr/>
        </p:nvSpPr>
        <p:spPr>
          <a:xfrm>
            <a:off x="11457432" y="6528816"/>
            <a:ext cx="274320" cy="237744"/>
          </a:xfrm>
          <a:prstGeom prst="rect">
            <a:avLst/>
          </a:prstGeom>
          <a:noFill/>
          <a:ln/>
        </p:spPr>
        <p:txBody>
          <a:bodyPr wrap="square" lIns="0" tIns="0" rIns="0" bIns="0" rtlCol="0" anchor="ctr"/>
          <a:lstStyle/>
          <a:p>
            <a:pPr marL="0" indent="0" algn="r">
              <a:buNone/>
            </a:pPr>
            <a:r>
              <a:rPr lang="en-US" sz="850" dirty="0">
                <a:solidFill>
                  <a:srgbClr val="5B6B7C"/>
                </a:solidFill>
                <a:latin typeface="Calibri" pitchFamily="34" charset="0"/>
                <a:ea typeface="Calibri" pitchFamily="34" charset="-122"/>
                <a:cs typeface="Calibri" pitchFamily="34" charset="-120"/>
              </a:rPr>
              <a:t>7</a:t>
            </a:r>
            <a:endParaRPr lang="en-US" sz="850" dirty="0"/>
          </a:p>
        </p:txBody>
      </p:sp>
      <p:pic>
        <p:nvPicPr>
          <p:cNvPr id="37" name="Picture 36" descr="A black screen with white text&#10;&#10;Description automatically generated">
            <a:extLst>
              <a:ext uri="{FF2B5EF4-FFF2-40B4-BE49-F238E27FC236}">
                <a16:creationId xmlns:a16="http://schemas.microsoft.com/office/drawing/2014/main" id="{63CB0043-2531-9549-D28B-C799EAD3A080}"/>
              </a:ext>
            </a:extLst>
          </p:cNvPr>
          <p:cNvPicPr>
            <a:picLocks noChangeAspect="1"/>
          </p:cNvPicPr>
          <p:nvPr/>
        </p:nvPicPr>
        <p:blipFill>
          <a:blip r:embed="rId3"/>
          <a:stretch>
            <a:fillRect/>
          </a:stretch>
        </p:blipFill>
        <p:spPr>
          <a:xfrm>
            <a:off x="105932" y="1847088"/>
            <a:ext cx="4369025" cy="2324219"/>
          </a:xfrm>
          <a:prstGeom prst="rect">
            <a:avLst/>
          </a:prstGeom>
        </p:spPr>
      </p:pic>
      <p:pic>
        <p:nvPicPr>
          <p:cNvPr id="7" name="Picture 6" descr="A screenshot of a computer program&#10;&#10;Description automatically generated">
            <a:extLst>
              <a:ext uri="{FF2B5EF4-FFF2-40B4-BE49-F238E27FC236}">
                <a16:creationId xmlns:a16="http://schemas.microsoft.com/office/drawing/2014/main" id="{0A040882-8D09-B6A0-090C-0C79FB8B7359}"/>
              </a:ext>
            </a:extLst>
          </p:cNvPr>
          <p:cNvPicPr>
            <a:picLocks noChangeAspect="1"/>
          </p:cNvPicPr>
          <p:nvPr/>
        </p:nvPicPr>
        <p:blipFill>
          <a:blip r:embed="rId4"/>
          <a:stretch>
            <a:fillRect/>
          </a:stretch>
        </p:blipFill>
        <p:spPr>
          <a:xfrm>
            <a:off x="4633234" y="1847088"/>
            <a:ext cx="3405139" cy="30461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4315E"/>
        </a:solidFill>
        <a:effectLst/>
      </p:bgPr>
    </p:bg>
    <p:spTree>
      <p:nvGrpSpPr>
        <p:cNvPr id="1" name=""/>
        <p:cNvGrpSpPr/>
        <p:nvPr/>
      </p:nvGrpSpPr>
      <p:grpSpPr>
        <a:xfrm>
          <a:off x="0" y="0"/>
          <a:ext cx="0" cy="0"/>
          <a:chOff x="0" y="0"/>
          <a:chExt cx="0" cy="0"/>
        </a:xfrm>
      </p:grpSpPr>
      <p:sp>
        <p:nvSpPr>
          <p:cNvPr id="2" name="Shape 0"/>
          <p:cNvSpPr/>
          <p:nvPr/>
        </p:nvSpPr>
        <p:spPr>
          <a:xfrm>
            <a:off x="-1463040" y="4480560"/>
            <a:ext cx="3840480" cy="3840480"/>
          </a:xfrm>
          <a:prstGeom prst="ellipse">
            <a:avLst/>
          </a:prstGeom>
          <a:solidFill>
            <a:srgbClr val="1E4079"/>
          </a:solidFill>
          <a:ln/>
        </p:spPr>
        <p:txBody>
          <a:bodyPr/>
          <a:lstStyle/>
          <a:p>
            <a:endParaRPr lang="en-IN"/>
          </a:p>
        </p:txBody>
      </p:sp>
      <p:sp>
        <p:nvSpPr>
          <p:cNvPr id="3" name="Shape 1"/>
          <p:cNvSpPr/>
          <p:nvPr/>
        </p:nvSpPr>
        <p:spPr>
          <a:xfrm>
            <a:off x="10881360" y="-1188720"/>
            <a:ext cx="3108960" cy="3108960"/>
          </a:xfrm>
          <a:prstGeom prst="ellipse">
            <a:avLst/>
          </a:prstGeom>
          <a:solidFill>
            <a:srgbClr val="1E4079"/>
          </a:solidFill>
          <a:ln/>
        </p:spPr>
        <p:txBody>
          <a:bodyPr/>
          <a:lstStyle/>
          <a:p>
            <a:endParaRPr lang="en-IN"/>
          </a:p>
        </p:txBody>
      </p:sp>
      <p:sp>
        <p:nvSpPr>
          <p:cNvPr id="4" name="Text 2"/>
          <p:cNvSpPr/>
          <p:nvPr/>
        </p:nvSpPr>
        <p:spPr>
          <a:xfrm>
            <a:off x="457200" y="292608"/>
            <a:ext cx="11247120" cy="502920"/>
          </a:xfrm>
          <a:prstGeom prst="rect">
            <a:avLst/>
          </a:prstGeom>
          <a:noFill/>
          <a:ln/>
        </p:spPr>
        <p:txBody>
          <a:bodyPr wrap="square" lIns="0" tIns="0" rIns="0" bIns="0"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Conclusion</a:t>
            </a:r>
            <a:endParaRPr lang="en-US" sz="2500" dirty="0"/>
          </a:p>
        </p:txBody>
      </p:sp>
      <p:sp>
        <p:nvSpPr>
          <p:cNvPr id="5" name="Text 3"/>
          <p:cNvSpPr/>
          <p:nvPr/>
        </p:nvSpPr>
        <p:spPr>
          <a:xfrm>
            <a:off x="475488" y="777240"/>
            <a:ext cx="11247120" cy="292608"/>
          </a:xfrm>
          <a:prstGeom prst="rect">
            <a:avLst/>
          </a:prstGeom>
          <a:noFill/>
          <a:ln/>
        </p:spPr>
        <p:txBody>
          <a:bodyPr wrap="square" lIns="0" tIns="0" rIns="0" bIns="0" rtlCol="0" anchor="ctr"/>
          <a:lstStyle/>
          <a:p>
            <a:pPr marL="0" indent="0">
              <a:buNone/>
            </a:pPr>
            <a:r>
              <a:rPr lang="en-US" sz="1150" i="1" dirty="0">
                <a:solidFill>
                  <a:srgbClr val="EAF1FB"/>
                </a:solidFill>
                <a:latin typeface="Calibri" pitchFamily="34" charset="0"/>
                <a:ea typeface="Calibri" pitchFamily="34" charset="-122"/>
                <a:cs typeface="Calibri" pitchFamily="34" charset="-120"/>
              </a:rPr>
              <a:t>Paper contributions, our implementation contribution, limitations, and future work</a:t>
            </a:r>
            <a:endParaRPr lang="en-US" sz="1150" dirty="0"/>
          </a:p>
        </p:txBody>
      </p:sp>
      <p:sp>
        <p:nvSpPr>
          <p:cNvPr id="6" name="Shape 4"/>
          <p:cNvSpPr/>
          <p:nvPr/>
        </p:nvSpPr>
        <p:spPr>
          <a:xfrm>
            <a:off x="502920" y="1417320"/>
            <a:ext cx="5468112" cy="1627632"/>
          </a:xfrm>
          <a:prstGeom prst="roundRect">
            <a:avLst>
              <a:gd name="adj" fmla="val 4494"/>
            </a:avLst>
          </a:prstGeom>
          <a:solidFill>
            <a:srgbClr val="17376A"/>
          </a:solidFill>
          <a:ln w="12700">
            <a:solidFill>
              <a:srgbClr val="2A4E86"/>
            </a:solidFill>
            <a:prstDash val="solid"/>
          </a:ln>
        </p:spPr>
        <p:txBody>
          <a:bodyPr/>
          <a:lstStyle/>
          <a:p>
            <a:endParaRPr lang="en-IN"/>
          </a:p>
        </p:txBody>
      </p:sp>
      <p:sp>
        <p:nvSpPr>
          <p:cNvPr id="7" name="Shape 5"/>
          <p:cNvSpPr/>
          <p:nvPr/>
        </p:nvSpPr>
        <p:spPr>
          <a:xfrm>
            <a:off x="640080" y="1554480"/>
            <a:ext cx="310896" cy="310896"/>
          </a:xfrm>
          <a:prstGeom prst="ellipse">
            <a:avLst/>
          </a:prstGeom>
          <a:solidFill>
            <a:srgbClr val="2F6FB7"/>
          </a:solidFill>
          <a:ln/>
        </p:spPr>
        <p:txBody>
          <a:bodyPr/>
          <a:lstStyle/>
          <a:p>
            <a:endParaRPr lang="en-IN"/>
          </a:p>
        </p:txBody>
      </p:sp>
      <p:sp>
        <p:nvSpPr>
          <p:cNvPr id="8" name="Text 6"/>
          <p:cNvSpPr/>
          <p:nvPr/>
        </p:nvSpPr>
        <p:spPr>
          <a:xfrm>
            <a:off x="640080" y="155448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1033272" y="1508760"/>
            <a:ext cx="409651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Research Contributions</a:t>
            </a:r>
            <a:endParaRPr lang="en-US" sz="1250" dirty="0"/>
          </a:p>
        </p:txBody>
      </p:sp>
      <p:sp>
        <p:nvSpPr>
          <p:cNvPr id="10" name="Text 8"/>
          <p:cNvSpPr/>
          <p:nvPr/>
        </p:nvSpPr>
        <p:spPr>
          <a:xfrm>
            <a:off x="4599432" y="1527048"/>
            <a:ext cx="1234440" cy="256032"/>
          </a:xfrm>
          <a:prstGeom prst="rect">
            <a:avLst/>
          </a:prstGeom>
          <a:solidFill>
            <a:srgbClr val="0F2039"/>
          </a:solidFill>
          <a:ln/>
        </p:spPr>
        <p:txBody>
          <a:bodyPr wrap="square" lIns="0" tIns="0" rIns="0" bIns="0" rtlCol="0" anchor="ctr"/>
          <a:lstStyle/>
          <a:p>
            <a:pPr marL="0" indent="0" algn="ctr">
              <a:buNone/>
            </a:pPr>
            <a:r>
              <a:rPr lang="en-US" sz="800" b="1" dirty="0">
                <a:solidFill>
                  <a:srgbClr val="2F6FB7"/>
                </a:solidFill>
                <a:latin typeface="Calibri" pitchFamily="34" charset="0"/>
                <a:ea typeface="Calibri" pitchFamily="34" charset="-122"/>
                <a:cs typeface="Calibri" pitchFamily="34" charset="-120"/>
              </a:rPr>
              <a:t>Paper</a:t>
            </a:r>
            <a:endParaRPr lang="en-US" sz="800" dirty="0"/>
          </a:p>
        </p:txBody>
      </p:sp>
      <p:sp>
        <p:nvSpPr>
          <p:cNvPr id="11" name="Shape 9"/>
          <p:cNvSpPr/>
          <p:nvPr/>
        </p:nvSpPr>
        <p:spPr>
          <a:xfrm>
            <a:off x="758952" y="1947672"/>
            <a:ext cx="54864" cy="54864"/>
          </a:xfrm>
          <a:prstGeom prst="ellipse">
            <a:avLst/>
          </a:prstGeom>
          <a:solidFill>
            <a:srgbClr val="2F6FB7"/>
          </a:solidFill>
          <a:ln/>
        </p:spPr>
        <p:txBody>
          <a:bodyPr/>
          <a:lstStyle/>
          <a:p>
            <a:endParaRPr lang="en-IN"/>
          </a:p>
        </p:txBody>
      </p:sp>
      <p:sp>
        <p:nvSpPr>
          <p:cNvPr id="12" name="Text 10"/>
          <p:cNvSpPr/>
          <p:nvPr/>
        </p:nvSpPr>
        <p:spPr>
          <a:xfrm>
            <a:off x="905256" y="1837944"/>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First comprehensive EI benchmark (EU + EA)</a:t>
            </a:r>
            <a:endParaRPr lang="en-US" sz="960" dirty="0"/>
          </a:p>
        </p:txBody>
      </p:sp>
      <p:sp>
        <p:nvSpPr>
          <p:cNvPr id="13" name="Shape 11"/>
          <p:cNvSpPr/>
          <p:nvPr/>
        </p:nvSpPr>
        <p:spPr>
          <a:xfrm>
            <a:off x="758952" y="2226564"/>
            <a:ext cx="54864" cy="54864"/>
          </a:xfrm>
          <a:prstGeom prst="ellipse">
            <a:avLst/>
          </a:prstGeom>
          <a:solidFill>
            <a:srgbClr val="2F6FB7"/>
          </a:solidFill>
          <a:ln/>
        </p:spPr>
        <p:txBody>
          <a:bodyPr/>
          <a:lstStyle/>
          <a:p>
            <a:endParaRPr lang="en-IN"/>
          </a:p>
        </p:txBody>
      </p:sp>
      <p:sp>
        <p:nvSpPr>
          <p:cNvPr id="14" name="Text 12"/>
          <p:cNvSpPr/>
          <p:nvPr/>
        </p:nvSpPr>
        <p:spPr>
          <a:xfrm>
            <a:off x="905256" y="2116836"/>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Psychology-inspired evaluation design</a:t>
            </a:r>
            <a:endParaRPr lang="en-US" sz="960" dirty="0"/>
          </a:p>
        </p:txBody>
      </p:sp>
      <p:sp>
        <p:nvSpPr>
          <p:cNvPr id="15" name="Shape 13"/>
          <p:cNvSpPr/>
          <p:nvPr/>
        </p:nvSpPr>
        <p:spPr>
          <a:xfrm>
            <a:off x="758952" y="2505456"/>
            <a:ext cx="54864" cy="54864"/>
          </a:xfrm>
          <a:prstGeom prst="ellipse">
            <a:avLst/>
          </a:prstGeom>
          <a:solidFill>
            <a:srgbClr val="2F6FB7"/>
          </a:solidFill>
          <a:ln/>
        </p:spPr>
        <p:txBody>
          <a:bodyPr/>
          <a:lstStyle/>
          <a:p>
            <a:endParaRPr lang="en-IN"/>
          </a:p>
        </p:txBody>
      </p:sp>
      <p:sp>
        <p:nvSpPr>
          <p:cNvPr id="16" name="Text 14"/>
          <p:cNvSpPr/>
          <p:nvPr/>
        </p:nvSpPr>
        <p:spPr>
          <a:xfrm>
            <a:off x="905256" y="2395728"/>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Human vs. LLM performance comparison</a:t>
            </a:r>
            <a:endParaRPr lang="en-US" sz="960" dirty="0"/>
          </a:p>
        </p:txBody>
      </p:sp>
      <p:sp>
        <p:nvSpPr>
          <p:cNvPr id="17" name="Shape 15"/>
          <p:cNvSpPr/>
          <p:nvPr/>
        </p:nvSpPr>
        <p:spPr>
          <a:xfrm>
            <a:off x="758952" y="2784348"/>
            <a:ext cx="54864" cy="54864"/>
          </a:xfrm>
          <a:prstGeom prst="ellipse">
            <a:avLst/>
          </a:prstGeom>
          <a:solidFill>
            <a:srgbClr val="2F6FB7"/>
          </a:solidFill>
          <a:ln/>
        </p:spPr>
        <p:txBody>
          <a:bodyPr/>
          <a:lstStyle/>
          <a:p>
            <a:endParaRPr lang="en-IN"/>
          </a:p>
        </p:txBody>
      </p:sp>
      <p:sp>
        <p:nvSpPr>
          <p:cNvPr id="18" name="Text 16"/>
          <p:cNvSpPr/>
          <p:nvPr/>
        </p:nvSpPr>
        <p:spPr>
          <a:xfrm>
            <a:off x="905256" y="2674620"/>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Strong foundation for future EI research</a:t>
            </a:r>
            <a:endParaRPr lang="en-US" sz="960" dirty="0"/>
          </a:p>
        </p:txBody>
      </p:sp>
      <p:sp>
        <p:nvSpPr>
          <p:cNvPr id="19" name="Shape 17"/>
          <p:cNvSpPr/>
          <p:nvPr/>
        </p:nvSpPr>
        <p:spPr>
          <a:xfrm>
            <a:off x="6172200" y="1417320"/>
            <a:ext cx="5468112" cy="1627632"/>
          </a:xfrm>
          <a:prstGeom prst="roundRect">
            <a:avLst>
              <a:gd name="adj" fmla="val 4494"/>
            </a:avLst>
          </a:prstGeom>
          <a:solidFill>
            <a:srgbClr val="17376A"/>
          </a:solidFill>
          <a:ln w="12700">
            <a:solidFill>
              <a:srgbClr val="2A4E86"/>
            </a:solidFill>
            <a:prstDash val="solid"/>
          </a:ln>
        </p:spPr>
        <p:txBody>
          <a:bodyPr/>
          <a:lstStyle/>
          <a:p>
            <a:endParaRPr lang="en-IN"/>
          </a:p>
        </p:txBody>
      </p:sp>
      <p:sp>
        <p:nvSpPr>
          <p:cNvPr id="20" name="Shape 18"/>
          <p:cNvSpPr/>
          <p:nvPr/>
        </p:nvSpPr>
        <p:spPr>
          <a:xfrm>
            <a:off x="6309360" y="1554480"/>
            <a:ext cx="310896" cy="310896"/>
          </a:xfrm>
          <a:prstGeom prst="ellipse">
            <a:avLst/>
          </a:prstGeom>
          <a:solidFill>
            <a:srgbClr val="C9821B"/>
          </a:solidFill>
          <a:ln/>
        </p:spPr>
        <p:txBody>
          <a:bodyPr/>
          <a:lstStyle/>
          <a:p>
            <a:endParaRPr lang="en-IN"/>
          </a:p>
        </p:txBody>
      </p:sp>
      <p:sp>
        <p:nvSpPr>
          <p:cNvPr id="21" name="Text 19"/>
          <p:cNvSpPr/>
          <p:nvPr/>
        </p:nvSpPr>
        <p:spPr>
          <a:xfrm>
            <a:off x="6309360" y="1554480"/>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6702552" y="1508760"/>
            <a:ext cx="409651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Our Contribution</a:t>
            </a:r>
            <a:endParaRPr lang="en-US" sz="1250" dirty="0"/>
          </a:p>
        </p:txBody>
      </p:sp>
      <p:sp>
        <p:nvSpPr>
          <p:cNvPr id="23" name="Text 21"/>
          <p:cNvSpPr/>
          <p:nvPr/>
        </p:nvSpPr>
        <p:spPr>
          <a:xfrm>
            <a:off x="10268712" y="1527048"/>
            <a:ext cx="1234440" cy="256032"/>
          </a:xfrm>
          <a:prstGeom prst="rect">
            <a:avLst/>
          </a:prstGeom>
          <a:solidFill>
            <a:srgbClr val="0F2039"/>
          </a:solidFill>
          <a:ln/>
        </p:spPr>
        <p:txBody>
          <a:bodyPr wrap="square" lIns="0" tIns="0" rIns="0" bIns="0" rtlCol="0" anchor="ctr"/>
          <a:lstStyle/>
          <a:p>
            <a:pPr marL="0" indent="0" algn="ctr">
              <a:buNone/>
            </a:pPr>
            <a:r>
              <a:rPr lang="en-US" sz="800" b="1" dirty="0">
                <a:solidFill>
                  <a:srgbClr val="C9821B"/>
                </a:solidFill>
                <a:latin typeface="Calibri" pitchFamily="34" charset="0"/>
                <a:ea typeface="Calibri" pitchFamily="34" charset="-122"/>
                <a:cs typeface="Calibri" pitchFamily="34" charset="-120"/>
              </a:rPr>
              <a:t>Implementation</a:t>
            </a:r>
            <a:endParaRPr lang="en-US" sz="800" dirty="0"/>
          </a:p>
        </p:txBody>
      </p:sp>
      <p:sp>
        <p:nvSpPr>
          <p:cNvPr id="24" name="Shape 22"/>
          <p:cNvSpPr/>
          <p:nvPr/>
        </p:nvSpPr>
        <p:spPr>
          <a:xfrm>
            <a:off x="6428232" y="1947672"/>
            <a:ext cx="54864" cy="54864"/>
          </a:xfrm>
          <a:prstGeom prst="ellipse">
            <a:avLst/>
          </a:prstGeom>
          <a:solidFill>
            <a:srgbClr val="C9821B"/>
          </a:solidFill>
          <a:ln/>
        </p:spPr>
        <p:txBody>
          <a:bodyPr/>
          <a:lstStyle/>
          <a:p>
            <a:endParaRPr lang="en-IN"/>
          </a:p>
        </p:txBody>
      </p:sp>
      <p:sp>
        <p:nvSpPr>
          <p:cNvPr id="25" name="Text 23"/>
          <p:cNvSpPr/>
          <p:nvPr/>
        </p:nvSpPr>
        <p:spPr>
          <a:xfrm>
            <a:off x="6574536" y="1837944"/>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Implemented the EmoBench repository end-to-end</a:t>
            </a:r>
            <a:endParaRPr lang="en-US" sz="960" dirty="0"/>
          </a:p>
        </p:txBody>
      </p:sp>
      <p:sp>
        <p:nvSpPr>
          <p:cNvPr id="26" name="Shape 24"/>
          <p:cNvSpPr/>
          <p:nvPr/>
        </p:nvSpPr>
        <p:spPr>
          <a:xfrm>
            <a:off x="6428232" y="2226564"/>
            <a:ext cx="54864" cy="54864"/>
          </a:xfrm>
          <a:prstGeom prst="ellipse">
            <a:avLst/>
          </a:prstGeom>
          <a:solidFill>
            <a:srgbClr val="C9821B"/>
          </a:solidFill>
          <a:ln/>
        </p:spPr>
        <p:txBody>
          <a:bodyPr/>
          <a:lstStyle/>
          <a:p>
            <a:endParaRPr lang="en-IN"/>
          </a:p>
        </p:txBody>
      </p:sp>
      <p:sp>
        <p:nvSpPr>
          <p:cNvPr id="27" name="Text 25"/>
          <p:cNvSpPr/>
          <p:nvPr/>
        </p:nvSpPr>
        <p:spPr>
          <a:xfrm>
            <a:off x="6574536" y="2116836"/>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Integrated HF Qwen2.5-0.5B-Instruct on CPU</a:t>
            </a:r>
            <a:endParaRPr lang="en-US" sz="960" dirty="0"/>
          </a:p>
        </p:txBody>
      </p:sp>
      <p:sp>
        <p:nvSpPr>
          <p:cNvPr id="28" name="Shape 26"/>
          <p:cNvSpPr/>
          <p:nvPr/>
        </p:nvSpPr>
        <p:spPr>
          <a:xfrm>
            <a:off x="6428232" y="2505456"/>
            <a:ext cx="54864" cy="54864"/>
          </a:xfrm>
          <a:prstGeom prst="ellipse">
            <a:avLst/>
          </a:prstGeom>
          <a:solidFill>
            <a:srgbClr val="C9821B"/>
          </a:solidFill>
          <a:ln/>
        </p:spPr>
        <p:txBody>
          <a:bodyPr/>
          <a:lstStyle/>
          <a:p>
            <a:endParaRPr lang="en-IN"/>
          </a:p>
        </p:txBody>
      </p:sp>
      <p:sp>
        <p:nvSpPr>
          <p:cNvPr id="29" name="Text 27"/>
          <p:cNvSpPr/>
          <p:nvPr/>
        </p:nvSpPr>
        <p:spPr>
          <a:xfrm>
            <a:off x="6574536" y="2395728"/>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Executed the Emotional Understanding benchmark</a:t>
            </a:r>
            <a:endParaRPr lang="en-US" sz="960" dirty="0"/>
          </a:p>
        </p:txBody>
      </p:sp>
      <p:sp>
        <p:nvSpPr>
          <p:cNvPr id="30" name="Shape 28"/>
          <p:cNvSpPr/>
          <p:nvPr/>
        </p:nvSpPr>
        <p:spPr>
          <a:xfrm>
            <a:off x="6428232" y="2784348"/>
            <a:ext cx="54864" cy="54864"/>
          </a:xfrm>
          <a:prstGeom prst="ellipse">
            <a:avLst/>
          </a:prstGeom>
          <a:solidFill>
            <a:srgbClr val="C9821B"/>
          </a:solidFill>
          <a:ln/>
        </p:spPr>
        <p:txBody>
          <a:bodyPr/>
          <a:lstStyle/>
          <a:p>
            <a:endParaRPr lang="en-IN"/>
          </a:p>
        </p:txBody>
      </p:sp>
      <p:sp>
        <p:nvSpPr>
          <p:cNvPr id="31" name="Text 29"/>
          <p:cNvSpPr/>
          <p:nvPr/>
        </p:nvSpPr>
        <p:spPr>
          <a:xfrm>
            <a:off x="6574536" y="2674620"/>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Generated predictions, leaderboard &amp; accuracy metrics</a:t>
            </a:r>
            <a:endParaRPr lang="en-US" sz="960" dirty="0"/>
          </a:p>
        </p:txBody>
      </p:sp>
      <p:sp>
        <p:nvSpPr>
          <p:cNvPr id="32" name="Shape 30"/>
          <p:cNvSpPr/>
          <p:nvPr/>
        </p:nvSpPr>
        <p:spPr>
          <a:xfrm>
            <a:off x="502920" y="3191256"/>
            <a:ext cx="5468112" cy="1627632"/>
          </a:xfrm>
          <a:prstGeom prst="roundRect">
            <a:avLst>
              <a:gd name="adj" fmla="val 4494"/>
            </a:avLst>
          </a:prstGeom>
          <a:solidFill>
            <a:srgbClr val="17376A"/>
          </a:solidFill>
          <a:ln w="12700">
            <a:solidFill>
              <a:srgbClr val="2A4E86"/>
            </a:solidFill>
            <a:prstDash val="solid"/>
          </a:ln>
        </p:spPr>
        <p:txBody>
          <a:bodyPr/>
          <a:lstStyle/>
          <a:p>
            <a:endParaRPr lang="en-IN"/>
          </a:p>
        </p:txBody>
      </p:sp>
      <p:sp>
        <p:nvSpPr>
          <p:cNvPr id="33" name="Shape 31"/>
          <p:cNvSpPr/>
          <p:nvPr/>
        </p:nvSpPr>
        <p:spPr>
          <a:xfrm>
            <a:off x="640080" y="3328416"/>
            <a:ext cx="310896" cy="310896"/>
          </a:xfrm>
          <a:prstGeom prst="ellipse">
            <a:avLst/>
          </a:prstGeom>
          <a:solidFill>
            <a:srgbClr val="8A5300"/>
          </a:solidFill>
          <a:ln/>
        </p:spPr>
        <p:txBody>
          <a:bodyPr/>
          <a:lstStyle/>
          <a:p>
            <a:endParaRPr lang="en-IN"/>
          </a:p>
        </p:txBody>
      </p:sp>
      <p:sp>
        <p:nvSpPr>
          <p:cNvPr id="34" name="Text 32"/>
          <p:cNvSpPr/>
          <p:nvPr/>
        </p:nvSpPr>
        <p:spPr>
          <a:xfrm>
            <a:off x="640080" y="332841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5" name="Text 33"/>
          <p:cNvSpPr/>
          <p:nvPr/>
        </p:nvSpPr>
        <p:spPr>
          <a:xfrm>
            <a:off x="1033272" y="3282696"/>
            <a:ext cx="409651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Limitations</a:t>
            </a:r>
            <a:endParaRPr lang="en-US" sz="1250" dirty="0"/>
          </a:p>
        </p:txBody>
      </p:sp>
      <p:sp>
        <p:nvSpPr>
          <p:cNvPr id="36" name="Text 34"/>
          <p:cNvSpPr/>
          <p:nvPr/>
        </p:nvSpPr>
        <p:spPr>
          <a:xfrm>
            <a:off x="4599432" y="3300984"/>
            <a:ext cx="1234440" cy="256032"/>
          </a:xfrm>
          <a:prstGeom prst="rect">
            <a:avLst/>
          </a:prstGeom>
          <a:solidFill>
            <a:srgbClr val="0F2039"/>
          </a:solidFill>
          <a:ln/>
        </p:spPr>
        <p:txBody>
          <a:bodyPr wrap="square" lIns="0" tIns="0" rIns="0" bIns="0" rtlCol="0" anchor="ctr"/>
          <a:lstStyle/>
          <a:p>
            <a:pPr marL="0" indent="0" algn="ctr">
              <a:buNone/>
            </a:pPr>
            <a:r>
              <a:rPr lang="en-US" sz="800" b="1" dirty="0">
                <a:solidFill>
                  <a:srgbClr val="8A5300"/>
                </a:solidFill>
                <a:latin typeface="Calibri" pitchFamily="34" charset="0"/>
                <a:ea typeface="Calibri" pitchFamily="34" charset="-122"/>
                <a:cs typeface="Calibri" pitchFamily="34" charset="-120"/>
              </a:rPr>
              <a:t>Paper + Ours</a:t>
            </a:r>
            <a:endParaRPr lang="en-US" sz="800" dirty="0"/>
          </a:p>
        </p:txBody>
      </p:sp>
      <p:sp>
        <p:nvSpPr>
          <p:cNvPr id="37" name="Shape 35"/>
          <p:cNvSpPr/>
          <p:nvPr/>
        </p:nvSpPr>
        <p:spPr>
          <a:xfrm>
            <a:off x="758952" y="3721608"/>
            <a:ext cx="54864" cy="54864"/>
          </a:xfrm>
          <a:prstGeom prst="ellipse">
            <a:avLst/>
          </a:prstGeom>
          <a:solidFill>
            <a:srgbClr val="8A5300"/>
          </a:solidFill>
          <a:ln/>
        </p:spPr>
        <p:txBody>
          <a:bodyPr/>
          <a:lstStyle/>
          <a:p>
            <a:endParaRPr lang="en-IN"/>
          </a:p>
        </p:txBody>
      </p:sp>
      <p:sp>
        <p:nvSpPr>
          <p:cNvPr id="38" name="Text 36"/>
          <p:cNvSpPr/>
          <p:nvPr/>
        </p:nvSpPr>
        <p:spPr>
          <a:xfrm>
            <a:off x="905256" y="3611880"/>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Text-only benchmark (single modality)</a:t>
            </a:r>
            <a:endParaRPr lang="en-US" sz="960" dirty="0"/>
          </a:p>
        </p:txBody>
      </p:sp>
      <p:sp>
        <p:nvSpPr>
          <p:cNvPr id="39" name="Shape 37"/>
          <p:cNvSpPr/>
          <p:nvPr/>
        </p:nvSpPr>
        <p:spPr>
          <a:xfrm>
            <a:off x="758952" y="4000500"/>
            <a:ext cx="54864" cy="54864"/>
          </a:xfrm>
          <a:prstGeom prst="ellipse">
            <a:avLst/>
          </a:prstGeom>
          <a:solidFill>
            <a:srgbClr val="8A5300"/>
          </a:solidFill>
          <a:ln/>
        </p:spPr>
        <p:txBody>
          <a:bodyPr/>
          <a:lstStyle/>
          <a:p>
            <a:endParaRPr lang="en-IN"/>
          </a:p>
        </p:txBody>
      </p:sp>
      <p:sp>
        <p:nvSpPr>
          <p:cNvPr id="40" name="Text 38"/>
          <p:cNvSpPr/>
          <p:nvPr/>
        </p:nvSpPr>
        <p:spPr>
          <a:xfrm>
            <a:off x="905256" y="3890772"/>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English &amp; Chinese only</a:t>
            </a:r>
            <a:endParaRPr lang="en-US" sz="960" dirty="0"/>
          </a:p>
        </p:txBody>
      </p:sp>
      <p:sp>
        <p:nvSpPr>
          <p:cNvPr id="41" name="Shape 39"/>
          <p:cNvSpPr/>
          <p:nvPr/>
        </p:nvSpPr>
        <p:spPr>
          <a:xfrm>
            <a:off x="758952" y="4279392"/>
            <a:ext cx="54864" cy="54864"/>
          </a:xfrm>
          <a:prstGeom prst="ellipse">
            <a:avLst/>
          </a:prstGeom>
          <a:solidFill>
            <a:srgbClr val="8A5300"/>
          </a:solidFill>
          <a:ln/>
        </p:spPr>
        <p:txBody>
          <a:bodyPr/>
          <a:lstStyle/>
          <a:p>
            <a:endParaRPr lang="en-IN"/>
          </a:p>
        </p:txBody>
      </p:sp>
      <p:sp>
        <p:nvSpPr>
          <p:cNvPr id="42" name="Text 40"/>
          <p:cNvSpPr/>
          <p:nvPr/>
        </p:nvSpPr>
        <p:spPr>
          <a:xfrm>
            <a:off x="905256" y="4169664"/>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Limited dataset scale (400 MCQs)</a:t>
            </a:r>
            <a:endParaRPr lang="en-US" sz="960" dirty="0"/>
          </a:p>
        </p:txBody>
      </p:sp>
      <p:sp>
        <p:nvSpPr>
          <p:cNvPr id="43" name="Shape 41"/>
          <p:cNvSpPr/>
          <p:nvPr/>
        </p:nvSpPr>
        <p:spPr>
          <a:xfrm>
            <a:off x="758952" y="4558284"/>
            <a:ext cx="54864" cy="54864"/>
          </a:xfrm>
          <a:prstGeom prst="ellipse">
            <a:avLst/>
          </a:prstGeom>
          <a:solidFill>
            <a:srgbClr val="8A5300"/>
          </a:solidFill>
          <a:ln/>
        </p:spPr>
        <p:txBody>
          <a:bodyPr/>
          <a:lstStyle/>
          <a:p>
            <a:endParaRPr lang="en-IN"/>
          </a:p>
        </p:txBody>
      </p:sp>
      <p:sp>
        <p:nvSpPr>
          <p:cNvPr id="44" name="Text 42"/>
          <p:cNvSpPr/>
          <p:nvPr/>
        </p:nvSpPr>
        <p:spPr>
          <a:xfrm>
            <a:off x="905256" y="4448556"/>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Our run used a small 0.5B model on a 200-sample subset</a:t>
            </a:r>
            <a:endParaRPr lang="en-US" sz="960" dirty="0"/>
          </a:p>
        </p:txBody>
      </p:sp>
      <p:sp>
        <p:nvSpPr>
          <p:cNvPr id="45" name="Shape 43"/>
          <p:cNvSpPr/>
          <p:nvPr/>
        </p:nvSpPr>
        <p:spPr>
          <a:xfrm>
            <a:off x="6172200" y="3191256"/>
            <a:ext cx="5468112" cy="1627632"/>
          </a:xfrm>
          <a:prstGeom prst="roundRect">
            <a:avLst>
              <a:gd name="adj" fmla="val 4494"/>
            </a:avLst>
          </a:prstGeom>
          <a:solidFill>
            <a:srgbClr val="17376A"/>
          </a:solidFill>
          <a:ln w="12700">
            <a:solidFill>
              <a:srgbClr val="2A4E86"/>
            </a:solidFill>
            <a:prstDash val="solid"/>
          </a:ln>
        </p:spPr>
        <p:txBody>
          <a:bodyPr/>
          <a:lstStyle/>
          <a:p>
            <a:endParaRPr lang="en-IN"/>
          </a:p>
        </p:txBody>
      </p:sp>
      <p:sp>
        <p:nvSpPr>
          <p:cNvPr id="46" name="Shape 44"/>
          <p:cNvSpPr/>
          <p:nvPr/>
        </p:nvSpPr>
        <p:spPr>
          <a:xfrm>
            <a:off x="6309360" y="3328416"/>
            <a:ext cx="310896" cy="310896"/>
          </a:xfrm>
          <a:prstGeom prst="ellipse">
            <a:avLst/>
          </a:prstGeom>
          <a:solidFill>
            <a:srgbClr val="3D7FC9"/>
          </a:solidFill>
          <a:ln/>
        </p:spPr>
        <p:txBody>
          <a:bodyPr/>
          <a:lstStyle/>
          <a:p>
            <a:endParaRPr lang="en-IN"/>
          </a:p>
        </p:txBody>
      </p:sp>
      <p:sp>
        <p:nvSpPr>
          <p:cNvPr id="47" name="Text 45"/>
          <p:cNvSpPr/>
          <p:nvPr/>
        </p:nvSpPr>
        <p:spPr>
          <a:xfrm>
            <a:off x="6309360" y="332841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8" name="Text 46"/>
          <p:cNvSpPr/>
          <p:nvPr/>
        </p:nvSpPr>
        <p:spPr>
          <a:xfrm>
            <a:off x="6702552" y="3282696"/>
            <a:ext cx="4096512" cy="292608"/>
          </a:xfrm>
          <a:prstGeom prst="rect">
            <a:avLst/>
          </a:prstGeom>
          <a:noFill/>
          <a:ln/>
        </p:spPr>
        <p:txBody>
          <a:bodyPr wrap="square" lIns="0" tIns="0" rIns="0" bIns="0"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Future Work</a:t>
            </a:r>
            <a:endParaRPr lang="en-US" sz="1250" dirty="0"/>
          </a:p>
        </p:txBody>
      </p:sp>
      <p:sp>
        <p:nvSpPr>
          <p:cNvPr id="49" name="Text 47"/>
          <p:cNvSpPr/>
          <p:nvPr/>
        </p:nvSpPr>
        <p:spPr>
          <a:xfrm>
            <a:off x="10268712" y="3300984"/>
            <a:ext cx="1234440" cy="256032"/>
          </a:xfrm>
          <a:prstGeom prst="rect">
            <a:avLst/>
          </a:prstGeom>
          <a:solidFill>
            <a:srgbClr val="0F2039"/>
          </a:solidFill>
          <a:ln/>
        </p:spPr>
        <p:txBody>
          <a:bodyPr wrap="square" lIns="0" tIns="0" rIns="0" bIns="0" rtlCol="0" anchor="ctr"/>
          <a:lstStyle/>
          <a:p>
            <a:pPr marL="0" indent="0" algn="ctr">
              <a:buNone/>
            </a:pPr>
            <a:r>
              <a:rPr lang="en-US" sz="800" b="1" dirty="0">
                <a:solidFill>
                  <a:srgbClr val="3D7FC9"/>
                </a:solidFill>
                <a:latin typeface="Calibri" pitchFamily="34" charset="0"/>
                <a:ea typeface="Calibri" pitchFamily="34" charset="-122"/>
                <a:cs typeface="Calibri" pitchFamily="34" charset="-120"/>
              </a:rPr>
              <a:t>Next Steps</a:t>
            </a:r>
            <a:endParaRPr lang="en-US" sz="800" dirty="0"/>
          </a:p>
        </p:txBody>
      </p:sp>
      <p:sp>
        <p:nvSpPr>
          <p:cNvPr id="50" name="Shape 48"/>
          <p:cNvSpPr/>
          <p:nvPr/>
        </p:nvSpPr>
        <p:spPr>
          <a:xfrm>
            <a:off x="6428232" y="3721608"/>
            <a:ext cx="54864" cy="54864"/>
          </a:xfrm>
          <a:prstGeom prst="ellipse">
            <a:avLst/>
          </a:prstGeom>
          <a:solidFill>
            <a:srgbClr val="3D7FC9"/>
          </a:solidFill>
          <a:ln/>
        </p:spPr>
        <p:txBody>
          <a:bodyPr/>
          <a:lstStyle/>
          <a:p>
            <a:endParaRPr lang="en-IN"/>
          </a:p>
        </p:txBody>
      </p:sp>
      <p:sp>
        <p:nvSpPr>
          <p:cNvPr id="51" name="Text 49"/>
          <p:cNvSpPr/>
          <p:nvPr/>
        </p:nvSpPr>
        <p:spPr>
          <a:xfrm>
            <a:off x="6574536" y="3611880"/>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Larger, multilingual datasets</a:t>
            </a:r>
            <a:endParaRPr lang="en-US" sz="960" dirty="0"/>
          </a:p>
        </p:txBody>
      </p:sp>
      <p:sp>
        <p:nvSpPr>
          <p:cNvPr id="52" name="Shape 50"/>
          <p:cNvSpPr/>
          <p:nvPr/>
        </p:nvSpPr>
        <p:spPr>
          <a:xfrm>
            <a:off x="6428232" y="4000500"/>
            <a:ext cx="54864" cy="54864"/>
          </a:xfrm>
          <a:prstGeom prst="ellipse">
            <a:avLst/>
          </a:prstGeom>
          <a:solidFill>
            <a:srgbClr val="3D7FC9"/>
          </a:solidFill>
          <a:ln/>
        </p:spPr>
        <p:txBody>
          <a:bodyPr/>
          <a:lstStyle/>
          <a:p>
            <a:endParaRPr lang="en-IN"/>
          </a:p>
        </p:txBody>
      </p:sp>
      <p:sp>
        <p:nvSpPr>
          <p:cNvPr id="53" name="Text 51"/>
          <p:cNvSpPr/>
          <p:nvPr/>
        </p:nvSpPr>
        <p:spPr>
          <a:xfrm>
            <a:off x="6574536" y="3890772"/>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Multi-modal emotional intelligence</a:t>
            </a:r>
            <a:endParaRPr lang="en-US" sz="960" dirty="0"/>
          </a:p>
        </p:txBody>
      </p:sp>
      <p:sp>
        <p:nvSpPr>
          <p:cNvPr id="54" name="Shape 52"/>
          <p:cNvSpPr/>
          <p:nvPr/>
        </p:nvSpPr>
        <p:spPr>
          <a:xfrm>
            <a:off x="6428232" y="4279392"/>
            <a:ext cx="54864" cy="54864"/>
          </a:xfrm>
          <a:prstGeom prst="ellipse">
            <a:avLst/>
          </a:prstGeom>
          <a:solidFill>
            <a:srgbClr val="3D7FC9"/>
          </a:solidFill>
          <a:ln/>
        </p:spPr>
        <p:txBody>
          <a:bodyPr/>
          <a:lstStyle/>
          <a:p>
            <a:endParaRPr lang="en-IN"/>
          </a:p>
        </p:txBody>
      </p:sp>
      <p:sp>
        <p:nvSpPr>
          <p:cNvPr id="55" name="Text 53"/>
          <p:cNvSpPr/>
          <p:nvPr/>
        </p:nvSpPr>
        <p:spPr>
          <a:xfrm>
            <a:off x="6574536" y="4169664"/>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Compare more open-source LLMs</a:t>
            </a:r>
            <a:endParaRPr lang="en-US" sz="960" dirty="0"/>
          </a:p>
        </p:txBody>
      </p:sp>
      <p:sp>
        <p:nvSpPr>
          <p:cNvPr id="56" name="Shape 54"/>
          <p:cNvSpPr/>
          <p:nvPr/>
        </p:nvSpPr>
        <p:spPr>
          <a:xfrm>
            <a:off x="6428232" y="4558284"/>
            <a:ext cx="54864" cy="54864"/>
          </a:xfrm>
          <a:prstGeom prst="ellipse">
            <a:avLst/>
          </a:prstGeom>
          <a:solidFill>
            <a:srgbClr val="3D7FC9"/>
          </a:solidFill>
          <a:ln/>
        </p:spPr>
        <p:txBody>
          <a:bodyPr/>
          <a:lstStyle/>
          <a:p>
            <a:endParaRPr lang="en-IN"/>
          </a:p>
        </p:txBody>
      </p:sp>
      <p:sp>
        <p:nvSpPr>
          <p:cNvPr id="57" name="Text 55"/>
          <p:cNvSpPr/>
          <p:nvPr/>
        </p:nvSpPr>
        <p:spPr>
          <a:xfrm>
            <a:off x="6574536" y="4448556"/>
            <a:ext cx="4873752" cy="292608"/>
          </a:xfrm>
          <a:prstGeom prst="rect">
            <a:avLst/>
          </a:prstGeom>
          <a:noFill/>
          <a:ln/>
        </p:spPr>
        <p:txBody>
          <a:bodyPr wrap="square" lIns="0" tIns="0" rIns="0" bIns="0" rtlCol="0" anchor="ctr"/>
          <a:lstStyle/>
          <a:p>
            <a:pPr marL="0" indent="0">
              <a:buNone/>
            </a:pPr>
            <a:r>
              <a:rPr lang="en-US" sz="960" dirty="0">
                <a:solidFill>
                  <a:srgbClr val="E4EDFA"/>
                </a:solidFill>
                <a:latin typeface="Calibri" pitchFamily="34" charset="0"/>
                <a:ea typeface="Calibri" pitchFamily="34" charset="-122"/>
                <a:cs typeface="Calibri" pitchFamily="34" charset="-120"/>
              </a:rPr>
              <a:t>GPU-based evaluation for larger models</a:t>
            </a:r>
            <a:endParaRPr lang="en-US" sz="960" dirty="0"/>
          </a:p>
        </p:txBody>
      </p:sp>
      <p:sp>
        <p:nvSpPr>
          <p:cNvPr id="58" name="Shape 56"/>
          <p:cNvSpPr/>
          <p:nvPr/>
        </p:nvSpPr>
        <p:spPr>
          <a:xfrm>
            <a:off x="502920" y="5212080"/>
            <a:ext cx="11183112" cy="658368"/>
          </a:xfrm>
          <a:prstGeom prst="roundRect">
            <a:avLst>
              <a:gd name="adj" fmla="val 12500"/>
            </a:avLst>
          </a:prstGeom>
          <a:solidFill>
            <a:srgbClr val="0F2039"/>
          </a:solidFill>
          <a:ln w="13970">
            <a:solidFill>
              <a:srgbClr val="C9821B"/>
            </a:solidFill>
            <a:prstDash val="solid"/>
          </a:ln>
        </p:spPr>
        <p:txBody>
          <a:bodyPr/>
          <a:lstStyle/>
          <a:p>
            <a:endParaRPr lang="en-IN"/>
          </a:p>
        </p:txBody>
      </p:sp>
      <p:sp>
        <p:nvSpPr>
          <p:cNvPr id="59" name="Text 57"/>
          <p:cNvSpPr/>
          <p:nvPr/>
        </p:nvSpPr>
        <p:spPr>
          <a:xfrm>
            <a:off x="502920" y="5212080"/>
            <a:ext cx="11183112"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60" name="Shape 58"/>
          <p:cNvSpPr/>
          <p:nvPr/>
        </p:nvSpPr>
        <p:spPr>
          <a:xfrm>
            <a:off x="457200" y="6053328"/>
            <a:ext cx="11274552" cy="384048"/>
          </a:xfrm>
          <a:prstGeom prst="roundRect">
            <a:avLst>
              <a:gd name="adj" fmla="val 16667"/>
            </a:avLst>
          </a:prstGeom>
          <a:solidFill>
            <a:srgbClr val="0F2039"/>
          </a:solidFill>
          <a:ln w="12700">
            <a:solidFill>
              <a:srgbClr val="C9821B"/>
            </a:solidFill>
            <a:prstDash val="solid"/>
          </a:ln>
        </p:spPr>
        <p:txBody>
          <a:bodyPr/>
          <a:lstStyle/>
          <a:p>
            <a:endParaRPr lang="en-IN"/>
          </a:p>
        </p:txBody>
      </p:sp>
      <p:sp>
        <p:nvSpPr>
          <p:cNvPr id="61" name="Text 59"/>
          <p:cNvSpPr/>
          <p:nvPr/>
        </p:nvSpPr>
        <p:spPr>
          <a:xfrm>
            <a:off x="621792" y="6053328"/>
            <a:ext cx="10972800" cy="384048"/>
          </a:xfrm>
          <a:prstGeom prst="rect">
            <a:avLst/>
          </a:prstGeom>
          <a:noFill/>
          <a:ln/>
        </p:spPr>
        <p:txBody>
          <a:bodyPr wrap="square" lIns="0" tIns="0" rIns="0" bIns="0" rtlCol="0" anchor="ctr"/>
          <a:lstStyle/>
          <a:p>
            <a:pPr marL="0" indent="0">
              <a:buNone/>
            </a:pPr>
            <a:r>
              <a:rPr lang="en-US" sz="1100" b="1" dirty="0">
                <a:solidFill>
                  <a:srgbClr val="C9821B"/>
                </a:solidFill>
                <a:latin typeface="Calibri" pitchFamily="34" charset="0"/>
                <a:ea typeface="Calibri" pitchFamily="34" charset="-122"/>
                <a:cs typeface="Calibri" pitchFamily="34" charset="-120"/>
              </a:rPr>
              <a:t>KEY TAKEAWAY:  </a:t>
            </a:r>
            <a:r>
              <a:rPr lang="en-US" sz="1100" dirty="0">
                <a:solidFill>
                  <a:srgbClr val="FFFFFF"/>
                </a:solidFill>
                <a:latin typeface="Calibri" pitchFamily="34" charset="0"/>
                <a:ea typeface="Calibri" pitchFamily="34" charset="-122"/>
                <a:cs typeface="Calibri" pitchFamily="34" charset="-120"/>
              </a:rPr>
              <a:t>The paper builds the benchmark; our contribution reproduces and evaluates it end-to-end on a lightweight open-source LLM.</a:t>
            </a:r>
            <a:endParaRPr lang="en-US" sz="1100" dirty="0"/>
          </a:p>
        </p:txBody>
      </p:sp>
      <p:sp>
        <p:nvSpPr>
          <p:cNvPr id="63" name="Text 61"/>
          <p:cNvSpPr/>
          <p:nvPr/>
        </p:nvSpPr>
        <p:spPr>
          <a:xfrm>
            <a:off x="11457432" y="6528816"/>
            <a:ext cx="274320" cy="237744"/>
          </a:xfrm>
          <a:prstGeom prst="rect">
            <a:avLst/>
          </a:prstGeom>
          <a:noFill/>
          <a:ln/>
        </p:spPr>
        <p:txBody>
          <a:bodyPr wrap="square" lIns="0" tIns="0" rIns="0" bIns="0" rtlCol="0" anchor="ctr"/>
          <a:lstStyle/>
          <a:p>
            <a:pPr marL="0" indent="0" algn="r">
              <a:buNone/>
            </a:pPr>
            <a:r>
              <a:rPr lang="en-US" sz="850" dirty="0">
                <a:solidFill>
                  <a:srgbClr val="8FA9CC"/>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1640</Words>
  <Application>Microsoft Office PowerPoint</Application>
  <PresentationFormat>Custom</PresentationFormat>
  <Paragraphs>209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Prakshi Goel</cp:lastModifiedBy>
  <cp:revision>10</cp:revision>
  <dcterms:created xsi:type="dcterms:W3CDTF">2026-07-26T14:28:46Z</dcterms:created>
  <dcterms:modified xsi:type="dcterms:W3CDTF">2026-07-27T09:17:57Z</dcterms:modified>
</cp:coreProperties>
</file>